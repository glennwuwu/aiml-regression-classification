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1" r:id="rId3"/>
    <p:sldId id="262" r:id="rId4"/>
    <p:sldId id="270" r:id="rId5"/>
    <p:sldId id="267" r:id="rId6"/>
    <p:sldId id="272" r:id="rId7"/>
    <p:sldId id="273" r:id="rId8"/>
    <p:sldId id="276" r:id="rId9"/>
    <p:sldId id="277" r:id="rId10"/>
    <p:sldId id="268" r:id="rId11"/>
    <p:sldId id="257" r:id="rId12"/>
    <p:sldId id="263" r:id="rId13"/>
    <p:sldId id="258" r:id="rId14"/>
    <p:sldId id="271" r:id="rId15"/>
    <p:sldId id="274" r:id="rId16"/>
    <p:sldId id="264" r:id="rId17"/>
    <p:sldId id="275" r:id="rId18"/>
    <p:sldId id="265" r:id="rId19"/>
    <p:sldId id="266" r:id="rId20"/>
    <p:sldId id="27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6785" autoAdjust="0"/>
    <p:restoredTop sz="94660"/>
  </p:normalViewPr>
  <p:slideViewPr>
    <p:cSldViewPr snapToGrid="0">
      <p:cViewPr varScale="1">
        <p:scale>
          <a:sx n="162" d="100"/>
          <a:sy n="162" d="100"/>
        </p:scale>
        <p:origin x="3354"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9ACE9-DDCE-C9DA-3997-BAD25AE7EB1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SG"/>
          </a:p>
        </p:txBody>
      </p:sp>
      <p:sp>
        <p:nvSpPr>
          <p:cNvPr id="3" name="Subtitle 2">
            <a:extLst>
              <a:ext uri="{FF2B5EF4-FFF2-40B4-BE49-F238E27FC236}">
                <a16:creationId xmlns:a16="http://schemas.microsoft.com/office/drawing/2014/main" id="{02A4C808-FDC9-F913-9364-894CFACAE3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SG"/>
          </a:p>
        </p:txBody>
      </p:sp>
      <p:sp>
        <p:nvSpPr>
          <p:cNvPr id="4" name="Date Placeholder 3">
            <a:extLst>
              <a:ext uri="{FF2B5EF4-FFF2-40B4-BE49-F238E27FC236}">
                <a16:creationId xmlns:a16="http://schemas.microsoft.com/office/drawing/2014/main" id="{97E6AC25-A0E8-555D-4A74-CF53DAF4570C}"/>
              </a:ext>
            </a:extLst>
          </p:cNvPr>
          <p:cNvSpPr>
            <a:spLocks noGrp="1"/>
          </p:cNvSpPr>
          <p:nvPr>
            <p:ph type="dt" sz="half" idx="10"/>
          </p:nvPr>
        </p:nvSpPr>
        <p:spPr/>
        <p:txBody>
          <a:bodyPr/>
          <a:lstStyle/>
          <a:p>
            <a:fld id="{0C7B6E7E-C0B1-44F9-A04D-2EA01712822A}" type="datetimeFigureOut">
              <a:rPr lang="en-SG" smtClean="0"/>
              <a:t>9/6/2023</a:t>
            </a:fld>
            <a:endParaRPr lang="en-SG"/>
          </a:p>
        </p:txBody>
      </p:sp>
      <p:sp>
        <p:nvSpPr>
          <p:cNvPr id="5" name="Footer Placeholder 4">
            <a:extLst>
              <a:ext uri="{FF2B5EF4-FFF2-40B4-BE49-F238E27FC236}">
                <a16:creationId xmlns:a16="http://schemas.microsoft.com/office/drawing/2014/main" id="{452CE964-14D3-E145-16AF-D7D14215425C}"/>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BB24A9AB-D3C6-6C36-0AF9-4371E4583F33}"/>
              </a:ext>
            </a:extLst>
          </p:cNvPr>
          <p:cNvSpPr>
            <a:spLocks noGrp="1"/>
          </p:cNvSpPr>
          <p:nvPr>
            <p:ph type="sldNum" sz="quarter" idx="12"/>
          </p:nvPr>
        </p:nvSpPr>
        <p:spPr/>
        <p:txBody>
          <a:bodyPr/>
          <a:lstStyle/>
          <a:p>
            <a:fld id="{F8903057-E60C-4F06-B7EA-D95C5A1DB2C8}" type="slidenum">
              <a:rPr lang="en-SG" smtClean="0"/>
              <a:t>‹#›</a:t>
            </a:fld>
            <a:endParaRPr lang="en-SG"/>
          </a:p>
        </p:txBody>
      </p:sp>
    </p:spTree>
    <p:extLst>
      <p:ext uri="{BB962C8B-B14F-4D97-AF65-F5344CB8AC3E}">
        <p14:creationId xmlns:p14="http://schemas.microsoft.com/office/powerpoint/2010/main" val="1776918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059A6-A930-DBB7-97FC-31C0C6248FD5}"/>
              </a:ext>
            </a:extLst>
          </p:cNvPr>
          <p:cNvSpPr>
            <a:spLocks noGrp="1"/>
          </p:cNvSpPr>
          <p:nvPr>
            <p:ph type="title"/>
          </p:nvPr>
        </p:nvSpPr>
        <p:spPr/>
        <p:txBody>
          <a:bodyPr/>
          <a:lstStyle/>
          <a:p>
            <a:r>
              <a:rPr lang="en-GB"/>
              <a:t>Click to edit Master title style</a:t>
            </a:r>
            <a:endParaRPr lang="en-SG"/>
          </a:p>
        </p:txBody>
      </p:sp>
      <p:sp>
        <p:nvSpPr>
          <p:cNvPr id="3" name="Content Placeholder 2">
            <a:extLst>
              <a:ext uri="{FF2B5EF4-FFF2-40B4-BE49-F238E27FC236}">
                <a16:creationId xmlns:a16="http://schemas.microsoft.com/office/drawing/2014/main" id="{F09AEC95-4160-6021-9BFF-C67290FAB50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Date Placeholder 3">
            <a:extLst>
              <a:ext uri="{FF2B5EF4-FFF2-40B4-BE49-F238E27FC236}">
                <a16:creationId xmlns:a16="http://schemas.microsoft.com/office/drawing/2014/main" id="{5ECE27D6-89EA-7DC3-54A6-A58A5F7060A0}"/>
              </a:ext>
            </a:extLst>
          </p:cNvPr>
          <p:cNvSpPr>
            <a:spLocks noGrp="1"/>
          </p:cNvSpPr>
          <p:nvPr>
            <p:ph type="dt" sz="half" idx="10"/>
          </p:nvPr>
        </p:nvSpPr>
        <p:spPr/>
        <p:txBody>
          <a:bodyPr/>
          <a:lstStyle/>
          <a:p>
            <a:fld id="{0C7B6E7E-C0B1-44F9-A04D-2EA01712822A}" type="datetimeFigureOut">
              <a:rPr lang="en-SG" smtClean="0"/>
              <a:t>9/6/2023</a:t>
            </a:fld>
            <a:endParaRPr lang="en-SG"/>
          </a:p>
        </p:txBody>
      </p:sp>
      <p:sp>
        <p:nvSpPr>
          <p:cNvPr id="5" name="Footer Placeholder 4">
            <a:extLst>
              <a:ext uri="{FF2B5EF4-FFF2-40B4-BE49-F238E27FC236}">
                <a16:creationId xmlns:a16="http://schemas.microsoft.com/office/drawing/2014/main" id="{69161914-5D39-BEED-CBB8-87B3B8143A9C}"/>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B52694D4-8477-81A1-EFB3-126814C033D7}"/>
              </a:ext>
            </a:extLst>
          </p:cNvPr>
          <p:cNvSpPr>
            <a:spLocks noGrp="1"/>
          </p:cNvSpPr>
          <p:nvPr>
            <p:ph type="sldNum" sz="quarter" idx="12"/>
          </p:nvPr>
        </p:nvSpPr>
        <p:spPr/>
        <p:txBody>
          <a:bodyPr/>
          <a:lstStyle/>
          <a:p>
            <a:fld id="{F8903057-E60C-4F06-B7EA-D95C5A1DB2C8}" type="slidenum">
              <a:rPr lang="en-SG" smtClean="0"/>
              <a:t>‹#›</a:t>
            </a:fld>
            <a:endParaRPr lang="en-SG"/>
          </a:p>
        </p:txBody>
      </p:sp>
    </p:spTree>
    <p:extLst>
      <p:ext uri="{BB962C8B-B14F-4D97-AF65-F5344CB8AC3E}">
        <p14:creationId xmlns:p14="http://schemas.microsoft.com/office/powerpoint/2010/main" val="2145735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65FDA-5D3C-E338-8D01-27B86684097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SG"/>
          </a:p>
        </p:txBody>
      </p:sp>
      <p:sp>
        <p:nvSpPr>
          <p:cNvPr id="3" name="Text Placeholder 2">
            <a:extLst>
              <a:ext uri="{FF2B5EF4-FFF2-40B4-BE49-F238E27FC236}">
                <a16:creationId xmlns:a16="http://schemas.microsoft.com/office/drawing/2014/main" id="{F8564CC3-54C5-DE04-80C6-27E7DE77FB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3CAFE9B5-63C8-CE2D-D7D1-CEA4E39CCD37}"/>
              </a:ext>
            </a:extLst>
          </p:cNvPr>
          <p:cNvSpPr>
            <a:spLocks noGrp="1"/>
          </p:cNvSpPr>
          <p:nvPr>
            <p:ph type="dt" sz="half" idx="10"/>
          </p:nvPr>
        </p:nvSpPr>
        <p:spPr/>
        <p:txBody>
          <a:bodyPr/>
          <a:lstStyle/>
          <a:p>
            <a:fld id="{0C7B6E7E-C0B1-44F9-A04D-2EA01712822A}" type="datetimeFigureOut">
              <a:rPr lang="en-SG" smtClean="0"/>
              <a:t>9/6/2023</a:t>
            </a:fld>
            <a:endParaRPr lang="en-SG"/>
          </a:p>
        </p:txBody>
      </p:sp>
      <p:sp>
        <p:nvSpPr>
          <p:cNvPr id="5" name="Footer Placeholder 4">
            <a:extLst>
              <a:ext uri="{FF2B5EF4-FFF2-40B4-BE49-F238E27FC236}">
                <a16:creationId xmlns:a16="http://schemas.microsoft.com/office/drawing/2014/main" id="{CBD336C7-94C5-D2DE-1292-EDC9497A350E}"/>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66076B39-65E3-D73E-1403-6C0E1533B518}"/>
              </a:ext>
            </a:extLst>
          </p:cNvPr>
          <p:cNvSpPr>
            <a:spLocks noGrp="1"/>
          </p:cNvSpPr>
          <p:nvPr>
            <p:ph type="sldNum" sz="quarter" idx="12"/>
          </p:nvPr>
        </p:nvSpPr>
        <p:spPr/>
        <p:txBody>
          <a:bodyPr/>
          <a:lstStyle/>
          <a:p>
            <a:fld id="{F8903057-E60C-4F06-B7EA-D95C5A1DB2C8}" type="slidenum">
              <a:rPr lang="en-SG" smtClean="0"/>
              <a:t>‹#›</a:t>
            </a:fld>
            <a:endParaRPr lang="en-SG"/>
          </a:p>
        </p:txBody>
      </p:sp>
    </p:spTree>
    <p:extLst>
      <p:ext uri="{BB962C8B-B14F-4D97-AF65-F5344CB8AC3E}">
        <p14:creationId xmlns:p14="http://schemas.microsoft.com/office/powerpoint/2010/main" val="2059569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9E84B-D9EA-EE84-2562-31763CFC20B1}"/>
              </a:ext>
            </a:extLst>
          </p:cNvPr>
          <p:cNvSpPr>
            <a:spLocks noGrp="1"/>
          </p:cNvSpPr>
          <p:nvPr>
            <p:ph type="title"/>
          </p:nvPr>
        </p:nvSpPr>
        <p:spPr/>
        <p:txBody>
          <a:bodyPr/>
          <a:lstStyle/>
          <a:p>
            <a:r>
              <a:rPr lang="en-GB"/>
              <a:t>Click to edit Master title style</a:t>
            </a:r>
            <a:endParaRPr lang="en-SG"/>
          </a:p>
        </p:txBody>
      </p:sp>
      <p:sp>
        <p:nvSpPr>
          <p:cNvPr id="3" name="Content Placeholder 2">
            <a:extLst>
              <a:ext uri="{FF2B5EF4-FFF2-40B4-BE49-F238E27FC236}">
                <a16:creationId xmlns:a16="http://schemas.microsoft.com/office/drawing/2014/main" id="{507B0497-45D7-D0F5-0A38-97A4DACE367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Content Placeholder 3">
            <a:extLst>
              <a:ext uri="{FF2B5EF4-FFF2-40B4-BE49-F238E27FC236}">
                <a16:creationId xmlns:a16="http://schemas.microsoft.com/office/drawing/2014/main" id="{6390B6E7-8D77-AF0F-7294-EFB5FB7EC4E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5" name="Date Placeholder 4">
            <a:extLst>
              <a:ext uri="{FF2B5EF4-FFF2-40B4-BE49-F238E27FC236}">
                <a16:creationId xmlns:a16="http://schemas.microsoft.com/office/drawing/2014/main" id="{DD72B782-7617-3BB9-A1D7-8D70DB945690}"/>
              </a:ext>
            </a:extLst>
          </p:cNvPr>
          <p:cNvSpPr>
            <a:spLocks noGrp="1"/>
          </p:cNvSpPr>
          <p:nvPr>
            <p:ph type="dt" sz="half" idx="10"/>
          </p:nvPr>
        </p:nvSpPr>
        <p:spPr/>
        <p:txBody>
          <a:bodyPr/>
          <a:lstStyle/>
          <a:p>
            <a:fld id="{0C7B6E7E-C0B1-44F9-A04D-2EA01712822A}" type="datetimeFigureOut">
              <a:rPr lang="en-SG" smtClean="0"/>
              <a:t>9/6/2023</a:t>
            </a:fld>
            <a:endParaRPr lang="en-SG"/>
          </a:p>
        </p:txBody>
      </p:sp>
      <p:sp>
        <p:nvSpPr>
          <p:cNvPr id="6" name="Footer Placeholder 5">
            <a:extLst>
              <a:ext uri="{FF2B5EF4-FFF2-40B4-BE49-F238E27FC236}">
                <a16:creationId xmlns:a16="http://schemas.microsoft.com/office/drawing/2014/main" id="{B5326E1B-6690-406C-4FB6-9A1980CCD061}"/>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5F315CCD-8533-33F0-502D-13B4C85909CE}"/>
              </a:ext>
            </a:extLst>
          </p:cNvPr>
          <p:cNvSpPr>
            <a:spLocks noGrp="1"/>
          </p:cNvSpPr>
          <p:nvPr>
            <p:ph type="sldNum" sz="quarter" idx="12"/>
          </p:nvPr>
        </p:nvSpPr>
        <p:spPr/>
        <p:txBody>
          <a:bodyPr/>
          <a:lstStyle/>
          <a:p>
            <a:fld id="{F8903057-E60C-4F06-B7EA-D95C5A1DB2C8}" type="slidenum">
              <a:rPr lang="en-SG" smtClean="0"/>
              <a:t>‹#›</a:t>
            </a:fld>
            <a:endParaRPr lang="en-SG"/>
          </a:p>
        </p:txBody>
      </p:sp>
    </p:spTree>
    <p:extLst>
      <p:ext uri="{BB962C8B-B14F-4D97-AF65-F5344CB8AC3E}">
        <p14:creationId xmlns:p14="http://schemas.microsoft.com/office/powerpoint/2010/main" val="3213306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872EA-3556-FC87-3219-61D5BF348080}"/>
              </a:ext>
            </a:extLst>
          </p:cNvPr>
          <p:cNvSpPr>
            <a:spLocks noGrp="1"/>
          </p:cNvSpPr>
          <p:nvPr>
            <p:ph type="title"/>
          </p:nvPr>
        </p:nvSpPr>
        <p:spPr>
          <a:xfrm>
            <a:off x="839788" y="365125"/>
            <a:ext cx="10515600" cy="1325563"/>
          </a:xfrm>
        </p:spPr>
        <p:txBody>
          <a:bodyPr/>
          <a:lstStyle/>
          <a:p>
            <a:r>
              <a:rPr lang="en-GB"/>
              <a:t>Click to edit Master title style</a:t>
            </a:r>
            <a:endParaRPr lang="en-SG"/>
          </a:p>
        </p:txBody>
      </p:sp>
      <p:sp>
        <p:nvSpPr>
          <p:cNvPr id="3" name="Text Placeholder 2">
            <a:extLst>
              <a:ext uri="{FF2B5EF4-FFF2-40B4-BE49-F238E27FC236}">
                <a16:creationId xmlns:a16="http://schemas.microsoft.com/office/drawing/2014/main" id="{6594BBB7-9B93-9C67-9458-1F5DF9A06B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8478443-FC1B-CA75-ADF9-AC8B915EC0F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5" name="Text Placeholder 4">
            <a:extLst>
              <a:ext uri="{FF2B5EF4-FFF2-40B4-BE49-F238E27FC236}">
                <a16:creationId xmlns:a16="http://schemas.microsoft.com/office/drawing/2014/main" id="{589502F0-5BC6-CBC2-6DB7-29606A6F0E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D0A46DA-60A9-C88A-1FB6-09FE14296EB0}"/>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7" name="Date Placeholder 6">
            <a:extLst>
              <a:ext uri="{FF2B5EF4-FFF2-40B4-BE49-F238E27FC236}">
                <a16:creationId xmlns:a16="http://schemas.microsoft.com/office/drawing/2014/main" id="{99AC2F64-12E9-9026-83B1-B4F7C60B92F6}"/>
              </a:ext>
            </a:extLst>
          </p:cNvPr>
          <p:cNvSpPr>
            <a:spLocks noGrp="1"/>
          </p:cNvSpPr>
          <p:nvPr>
            <p:ph type="dt" sz="half" idx="10"/>
          </p:nvPr>
        </p:nvSpPr>
        <p:spPr/>
        <p:txBody>
          <a:bodyPr/>
          <a:lstStyle/>
          <a:p>
            <a:fld id="{0C7B6E7E-C0B1-44F9-A04D-2EA01712822A}" type="datetimeFigureOut">
              <a:rPr lang="en-SG" smtClean="0"/>
              <a:t>9/6/2023</a:t>
            </a:fld>
            <a:endParaRPr lang="en-SG"/>
          </a:p>
        </p:txBody>
      </p:sp>
      <p:sp>
        <p:nvSpPr>
          <p:cNvPr id="8" name="Footer Placeholder 7">
            <a:extLst>
              <a:ext uri="{FF2B5EF4-FFF2-40B4-BE49-F238E27FC236}">
                <a16:creationId xmlns:a16="http://schemas.microsoft.com/office/drawing/2014/main" id="{F9856896-92C1-822C-789B-0AEE117B46C3}"/>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70304CDD-CE83-CE2B-039A-785AAA15E72D}"/>
              </a:ext>
            </a:extLst>
          </p:cNvPr>
          <p:cNvSpPr>
            <a:spLocks noGrp="1"/>
          </p:cNvSpPr>
          <p:nvPr>
            <p:ph type="sldNum" sz="quarter" idx="12"/>
          </p:nvPr>
        </p:nvSpPr>
        <p:spPr/>
        <p:txBody>
          <a:bodyPr/>
          <a:lstStyle/>
          <a:p>
            <a:fld id="{F8903057-E60C-4F06-B7EA-D95C5A1DB2C8}" type="slidenum">
              <a:rPr lang="en-SG" smtClean="0"/>
              <a:t>‹#›</a:t>
            </a:fld>
            <a:endParaRPr lang="en-SG"/>
          </a:p>
        </p:txBody>
      </p:sp>
    </p:spTree>
    <p:extLst>
      <p:ext uri="{BB962C8B-B14F-4D97-AF65-F5344CB8AC3E}">
        <p14:creationId xmlns:p14="http://schemas.microsoft.com/office/powerpoint/2010/main" val="7929929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02EE7-DB28-AEE8-D156-0098CCAE8425}"/>
              </a:ext>
            </a:extLst>
          </p:cNvPr>
          <p:cNvSpPr>
            <a:spLocks noGrp="1"/>
          </p:cNvSpPr>
          <p:nvPr>
            <p:ph type="title"/>
          </p:nvPr>
        </p:nvSpPr>
        <p:spPr/>
        <p:txBody>
          <a:bodyPr/>
          <a:lstStyle/>
          <a:p>
            <a:r>
              <a:rPr lang="en-GB"/>
              <a:t>Click to edit Master title style</a:t>
            </a:r>
            <a:endParaRPr lang="en-SG"/>
          </a:p>
        </p:txBody>
      </p:sp>
      <p:sp>
        <p:nvSpPr>
          <p:cNvPr id="3" name="Date Placeholder 2">
            <a:extLst>
              <a:ext uri="{FF2B5EF4-FFF2-40B4-BE49-F238E27FC236}">
                <a16:creationId xmlns:a16="http://schemas.microsoft.com/office/drawing/2014/main" id="{260AE051-DF7B-960A-37BC-890D125E3430}"/>
              </a:ext>
            </a:extLst>
          </p:cNvPr>
          <p:cNvSpPr>
            <a:spLocks noGrp="1"/>
          </p:cNvSpPr>
          <p:nvPr>
            <p:ph type="dt" sz="half" idx="10"/>
          </p:nvPr>
        </p:nvSpPr>
        <p:spPr/>
        <p:txBody>
          <a:bodyPr/>
          <a:lstStyle/>
          <a:p>
            <a:fld id="{0C7B6E7E-C0B1-44F9-A04D-2EA01712822A}" type="datetimeFigureOut">
              <a:rPr lang="en-SG" smtClean="0"/>
              <a:t>9/6/2023</a:t>
            </a:fld>
            <a:endParaRPr lang="en-SG"/>
          </a:p>
        </p:txBody>
      </p:sp>
      <p:sp>
        <p:nvSpPr>
          <p:cNvPr id="4" name="Footer Placeholder 3">
            <a:extLst>
              <a:ext uri="{FF2B5EF4-FFF2-40B4-BE49-F238E27FC236}">
                <a16:creationId xmlns:a16="http://schemas.microsoft.com/office/drawing/2014/main" id="{6A52FD07-E200-12BD-71BE-444741A5EE55}"/>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D1DF36F4-667F-1A9F-363D-3964BDDCD804}"/>
              </a:ext>
            </a:extLst>
          </p:cNvPr>
          <p:cNvSpPr>
            <a:spLocks noGrp="1"/>
          </p:cNvSpPr>
          <p:nvPr>
            <p:ph type="sldNum" sz="quarter" idx="12"/>
          </p:nvPr>
        </p:nvSpPr>
        <p:spPr/>
        <p:txBody>
          <a:bodyPr/>
          <a:lstStyle/>
          <a:p>
            <a:fld id="{F8903057-E60C-4F06-B7EA-D95C5A1DB2C8}" type="slidenum">
              <a:rPr lang="en-SG" smtClean="0"/>
              <a:t>‹#›</a:t>
            </a:fld>
            <a:endParaRPr lang="en-SG"/>
          </a:p>
        </p:txBody>
      </p:sp>
    </p:spTree>
    <p:extLst>
      <p:ext uri="{BB962C8B-B14F-4D97-AF65-F5344CB8AC3E}">
        <p14:creationId xmlns:p14="http://schemas.microsoft.com/office/powerpoint/2010/main" val="21525597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CA02D2-B488-079E-4DA6-F80005909E65}"/>
              </a:ext>
            </a:extLst>
          </p:cNvPr>
          <p:cNvSpPr>
            <a:spLocks noGrp="1"/>
          </p:cNvSpPr>
          <p:nvPr>
            <p:ph type="dt" sz="half" idx="10"/>
          </p:nvPr>
        </p:nvSpPr>
        <p:spPr/>
        <p:txBody>
          <a:bodyPr/>
          <a:lstStyle/>
          <a:p>
            <a:fld id="{0C7B6E7E-C0B1-44F9-A04D-2EA01712822A}" type="datetimeFigureOut">
              <a:rPr lang="en-SG" smtClean="0"/>
              <a:t>9/6/2023</a:t>
            </a:fld>
            <a:endParaRPr lang="en-SG"/>
          </a:p>
        </p:txBody>
      </p:sp>
      <p:sp>
        <p:nvSpPr>
          <p:cNvPr id="3" name="Footer Placeholder 2">
            <a:extLst>
              <a:ext uri="{FF2B5EF4-FFF2-40B4-BE49-F238E27FC236}">
                <a16:creationId xmlns:a16="http://schemas.microsoft.com/office/drawing/2014/main" id="{E315DAA1-549F-2D39-49F6-E1B9C3EB62EF}"/>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D9F280F1-8254-80D2-3E76-A2B4D4E0EA65}"/>
              </a:ext>
            </a:extLst>
          </p:cNvPr>
          <p:cNvSpPr>
            <a:spLocks noGrp="1"/>
          </p:cNvSpPr>
          <p:nvPr>
            <p:ph type="sldNum" sz="quarter" idx="12"/>
          </p:nvPr>
        </p:nvSpPr>
        <p:spPr/>
        <p:txBody>
          <a:bodyPr/>
          <a:lstStyle/>
          <a:p>
            <a:fld id="{F8903057-E60C-4F06-B7EA-D95C5A1DB2C8}" type="slidenum">
              <a:rPr lang="en-SG" smtClean="0"/>
              <a:t>‹#›</a:t>
            </a:fld>
            <a:endParaRPr lang="en-SG"/>
          </a:p>
        </p:txBody>
      </p:sp>
    </p:spTree>
    <p:extLst>
      <p:ext uri="{BB962C8B-B14F-4D97-AF65-F5344CB8AC3E}">
        <p14:creationId xmlns:p14="http://schemas.microsoft.com/office/powerpoint/2010/main" val="1174476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B79E1-8152-85D9-FC24-9AD1ACDD7C2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SG"/>
          </a:p>
        </p:txBody>
      </p:sp>
      <p:sp>
        <p:nvSpPr>
          <p:cNvPr id="3" name="Content Placeholder 2">
            <a:extLst>
              <a:ext uri="{FF2B5EF4-FFF2-40B4-BE49-F238E27FC236}">
                <a16:creationId xmlns:a16="http://schemas.microsoft.com/office/drawing/2014/main" id="{72DDC5BE-7800-0616-4CB8-0B4C4CEF9E1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Text Placeholder 3">
            <a:extLst>
              <a:ext uri="{FF2B5EF4-FFF2-40B4-BE49-F238E27FC236}">
                <a16:creationId xmlns:a16="http://schemas.microsoft.com/office/drawing/2014/main" id="{736FE1BD-D4BD-11FB-B8DF-0CB914176D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C14C532-7D54-98CC-716E-78000AEB83E5}"/>
              </a:ext>
            </a:extLst>
          </p:cNvPr>
          <p:cNvSpPr>
            <a:spLocks noGrp="1"/>
          </p:cNvSpPr>
          <p:nvPr>
            <p:ph type="dt" sz="half" idx="10"/>
          </p:nvPr>
        </p:nvSpPr>
        <p:spPr/>
        <p:txBody>
          <a:bodyPr/>
          <a:lstStyle/>
          <a:p>
            <a:fld id="{0C7B6E7E-C0B1-44F9-A04D-2EA01712822A}" type="datetimeFigureOut">
              <a:rPr lang="en-SG" smtClean="0"/>
              <a:t>9/6/2023</a:t>
            </a:fld>
            <a:endParaRPr lang="en-SG"/>
          </a:p>
        </p:txBody>
      </p:sp>
      <p:sp>
        <p:nvSpPr>
          <p:cNvPr id="6" name="Footer Placeholder 5">
            <a:extLst>
              <a:ext uri="{FF2B5EF4-FFF2-40B4-BE49-F238E27FC236}">
                <a16:creationId xmlns:a16="http://schemas.microsoft.com/office/drawing/2014/main" id="{1CB7DA2A-8CA8-4811-5666-4BB3F67E70AC}"/>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5C2FCA5A-E331-89B6-396F-E28B33BC83F6}"/>
              </a:ext>
            </a:extLst>
          </p:cNvPr>
          <p:cNvSpPr>
            <a:spLocks noGrp="1"/>
          </p:cNvSpPr>
          <p:nvPr>
            <p:ph type="sldNum" sz="quarter" idx="12"/>
          </p:nvPr>
        </p:nvSpPr>
        <p:spPr/>
        <p:txBody>
          <a:bodyPr/>
          <a:lstStyle/>
          <a:p>
            <a:fld id="{F8903057-E60C-4F06-B7EA-D95C5A1DB2C8}" type="slidenum">
              <a:rPr lang="en-SG" smtClean="0"/>
              <a:t>‹#›</a:t>
            </a:fld>
            <a:endParaRPr lang="en-SG"/>
          </a:p>
        </p:txBody>
      </p:sp>
    </p:spTree>
    <p:extLst>
      <p:ext uri="{BB962C8B-B14F-4D97-AF65-F5344CB8AC3E}">
        <p14:creationId xmlns:p14="http://schemas.microsoft.com/office/powerpoint/2010/main" val="1176906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FE6AD-C06F-8F3D-0C4B-9185BC0E0A4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SG"/>
          </a:p>
        </p:txBody>
      </p:sp>
      <p:sp>
        <p:nvSpPr>
          <p:cNvPr id="3" name="Picture Placeholder 2">
            <a:extLst>
              <a:ext uri="{FF2B5EF4-FFF2-40B4-BE49-F238E27FC236}">
                <a16:creationId xmlns:a16="http://schemas.microsoft.com/office/drawing/2014/main" id="{411C427C-95F9-A1BC-CB03-D4ABD44FDB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67A9B0E2-B6B5-E73E-F7C9-D333C52AC6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1CD99DD-4906-9862-DC39-50B01DF47E38}"/>
              </a:ext>
            </a:extLst>
          </p:cNvPr>
          <p:cNvSpPr>
            <a:spLocks noGrp="1"/>
          </p:cNvSpPr>
          <p:nvPr>
            <p:ph type="dt" sz="half" idx="10"/>
          </p:nvPr>
        </p:nvSpPr>
        <p:spPr/>
        <p:txBody>
          <a:bodyPr/>
          <a:lstStyle/>
          <a:p>
            <a:fld id="{0C7B6E7E-C0B1-44F9-A04D-2EA01712822A}" type="datetimeFigureOut">
              <a:rPr lang="en-SG" smtClean="0"/>
              <a:t>9/6/2023</a:t>
            </a:fld>
            <a:endParaRPr lang="en-SG"/>
          </a:p>
        </p:txBody>
      </p:sp>
      <p:sp>
        <p:nvSpPr>
          <p:cNvPr id="6" name="Footer Placeholder 5">
            <a:extLst>
              <a:ext uri="{FF2B5EF4-FFF2-40B4-BE49-F238E27FC236}">
                <a16:creationId xmlns:a16="http://schemas.microsoft.com/office/drawing/2014/main" id="{1564779F-D26E-4F94-1CF2-97383CD30558}"/>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533160F1-3155-60DD-B90E-C6B6D57529DD}"/>
              </a:ext>
            </a:extLst>
          </p:cNvPr>
          <p:cNvSpPr>
            <a:spLocks noGrp="1"/>
          </p:cNvSpPr>
          <p:nvPr>
            <p:ph type="sldNum" sz="quarter" idx="12"/>
          </p:nvPr>
        </p:nvSpPr>
        <p:spPr/>
        <p:txBody>
          <a:bodyPr/>
          <a:lstStyle/>
          <a:p>
            <a:fld id="{F8903057-E60C-4F06-B7EA-D95C5A1DB2C8}" type="slidenum">
              <a:rPr lang="en-SG" smtClean="0"/>
              <a:t>‹#›</a:t>
            </a:fld>
            <a:endParaRPr lang="en-SG"/>
          </a:p>
        </p:txBody>
      </p:sp>
    </p:spTree>
    <p:extLst>
      <p:ext uri="{BB962C8B-B14F-4D97-AF65-F5344CB8AC3E}">
        <p14:creationId xmlns:p14="http://schemas.microsoft.com/office/powerpoint/2010/main" val="22631889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92ED3-21DA-AD3D-FB4D-C0D2063957F1}"/>
              </a:ext>
            </a:extLst>
          </p:cNvPr>
          <p:cNvSpPr>
            <a:spLocks noGrp="1"/>
          </p:cNvSpPr>
          <p:nvPr>
            <p:ph type="title"/>
          </p:nvPr>
        </p:nvSpPr>
        <p:spPr/>
        <p:txBody>
          <a:bodyPr/>
          <a:lstStyle/>
          <a:p>
            <a:r>
              <a:rPr lang="en-GB"/>
              <a:t>Click to edit Master title style</a:t>
            </a:r>
            <a:endParaRPr lang="en-SG"/>
          </a:p>
        </p:txBody>
      </p:sp>
      <p:sp>
        <p:nvSpPr>
          <p:cNvPr id="3" name="Vertical Text Placeholder 2">
            <a:extLst>
              <a:ext uri="{FF2B5EF4-FFF2-40B4-BE49-F238E27FC236}">
                <a16:creationId xmlns:a16="http://schemas.microsoft.com/office/drawing/2014/main" id="{A3AD8599-2F4C-44EA-F5E4-6DE65F45460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Date Placeholder 3">
            <a:extLst>
              <a:ext uri="{FF2B5EF4-FFF2-40B4-BE49-F238E27FC236}">
                <a16:creationId xmlns:a16="http://schemas.microsoft.com/office/drawing/2014/main" id="{AC28C944-7DAA-A1A1-A24C-A0AE0E4BC6A3}"/>
              </a:ext>
            </a:extLst>
          </p:cNvPr>
          <p:cNvSpPr>
            <a:spLocks noGrp="1"/>
          </p:cNvSpPr>
          <p:nvPr>
            <p:ph type="dt" sz="half" idx="10"/>
          </p:nvPr>
        </p:nvSpPr>
        <p:spPr/>
        <p:txBody>
          <a:bodyPr/>
          <a:lstStyle/>
          <a:p>
            <a:fld id="{0C7B6E7E-C0B1-44F9-A04D-2EA01712822A}" type="datetimeFigureOut">
              <a:rPr lang="en-SG" smtClean="0"/>
              <a:t>9/6/2023</a:t>
            </a:fld>
            <a:endParaRPr lang="en-SG"/>
          </a:p>
        </p:txBody>
      </p:sp>
      <p:sp>
        <p:nvSpPr>
          <p:cNvPr id="5" name="Footer Placeholder 4">
            <a:extLst>
              <a:ext uri="{FF2B5EF4-FFF2-40B4-BE49-F238E27FC236}">
                <a16:creationId xmlns:a16="http://schemas.microsoft.com/office/drawing/2014/main" id="{DD34425A-6867-A8C4-101A-9465970AB0ED}"/>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59E4DBCE-6521-9310-4D9E-CF8741254040}"/>
              </a:ext>
            </a:extLst>
          </p:cNvPr>
          <p:cNvSpPr>
            <a:spLocks noGrp="1"/>
          </p:cNvSpPr>
          <p:nvPr>
            <p:ph type="sldNum" sz="quarter" idx="12"/>
          </p:nvPr>
        </p:nvSpPr>
        <p:spPr/>
        <p:txBody>
          <a:bodyPr/>
          <a:lstStyle/>
          <a:p>
            <a:fld id="{F8903057-E60C-4F06-B7EA-D95C5A1DB2C8}" type="slidenum">
              <a:rPr lang="en-SG" smtClean="0"/>
              <a:t>‹#›</a:t>
            </a:fld>
            <a:endParaRPr lang="en-SG"/>
          </a:p>
        </p:txBody>
      </p:sp>
    </p:spTree>
    <p:extLst>
      <p:ext uri="{BB962C8B-B14F-4D97-AF65-F5344CB8AC3E}">
        <p14:creationId xmlns:p14="http://schemas.microsoft.com/office/powerpoint/2010/main" val="13575889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55010F-9013-7612-F239-3FA6E28A217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SG"/>
          </a:p>
        </p:txBody>
      </p:sp>
      <p:sp>
        <p:nvSpPr>
          <p:cNvPr id="3" name="Vertical Text Placeholder 2">
            <a:extLst>
              <a:ext uri="{FF2B5EF4-FFF2-40B4-BE49-F238E27FC236}">
                <a16:creationId xmlns:a16="http://schemas.microsoft.com/office/drawing/2014/main" id="{ED217137-A4C2-8C3B-B438-C0090AFC0A84}"/>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Date Placeholder 3">
            <a:extLst>
              <a:ext uri="{FF2B5EF4-FFF2-40B4-BE49-F238E27FC236}">
                <a16:creationId xmlns:a16="http://schemas.microsoft.com/office/drawing/2014/main" id="{DBDE0B1B-C27A-C22E-5C06-EABE71AF3212}"/>
              </a:ext>
            </a:extLst>
          </p:cNvPr>
          <p:cNvSpPr>
            <a:spLocks noGrp="1"/>
          </p:cNvSpPr>
          <p:nvPr>
            <p:ph type="dt" sz="half" idx="10"/>
          </p:nvPr>
        </p:nvSpPr>
        <p:spPr/>
        <p:txBody>
          <a:bodyPr/>
          <a:lstStyle/>
          <a:p>
            <a:fld id="{0C7B6E7E-C0B1-44F9-A04D-2EA01712822A}" type="datetimeFigureOut">
              <a:rPr lang="en-SG" smtClean="0"/>
              <a:t>9/6/2023</a:t>
            </a:fld>
            <a:endParaRPr lang="en-SG"/>
          </a:p>
        </p:txBody>
      </p:sp>
      <p:sp>
        <p:nvSpPr>
          <p:cNvPr id="5" name="Footer Placeholder 4">
            <a:extLst>
              <a:ext uri="{FF2B5EF4-FFF2-40B4-BE49-F238E27FC236}">
                <a16:creationId xmlns:a16="http://schemas.microsoft.com/office/drawing/2014/main" id="{31FC6917-F83C-E74D-7C79-6E98A03042F4}"/>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E3CCF303-95A9-7C87-DC19-B1174E802134}"/>
              </a:ext>
            </a:extLst>
          </p:cNvPr>
          <p:cNvSpPr>
            <a:spLocks noGrp="1"/>
          </p:cNvSpPr>
          <p:nvPr>
            <p:ph type="sldNum" sz="quarter" idx="12"/>
          </p:nvPr>
        </p:nvSpPr>
        <p:spPr/>
        <p:txBody>
          <a:bodyPr/>
          <a:lstStyle/>
          <a:p>
            <a:fld id="{F8903057-E60C-4F06-B7EA-D95C5A1DB2C8}" type="slidenum">
              <a:rPr lang="en-SG" smtClean="0"/>
              <a:t>‹#›</a:t>
            </a:fld>
            <a:endParaRPr lang="en-SG"/>
          </a:p>
        </p:txBody>
      </p:sp>
    </p:spTree>
    <p:extLst>
      <p:ext uri="{BB962C8B-B14F-4D97-AF65-F5344CB8AC3E}">
        <p14:creationId xmlns:p14="http://schemas.microsoft.com/office/powerpoint/2010/main" val="27743058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5D484C-44F3-A970-DB55-55C8758076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SG"/>
          </a:p>
        </p:txBody>
      </p:sp>
      <p:sp>
        <p:nvSpPr>
          <p:cNvPr id="3" name="Text Placeholder 2">
            <a:extLst>
              <a:ext uri="{FF2B5EF4-FFF2-40B4-BE49-F238E27FC236}">
                <a16:creationId xmlns:a16="http://schemas.microsoft.com/office/drawing/2014/main" id="{0E5E59E8-FE63-B4F8-F48F-78548ACB30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Date Placeholder 3">
            <a:extLst>
              <a:ext uri="{FF2B5EF4-FFF2-40B4-BE49-F238E27FC236}">
                <a16:creationId xmlns:a16="http://schemas.microsoft.com/office/drawing/2014/main" id="{9FF2FCBC-548E-97B8-0897-BDD2E92EB6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7B6E7E-C0B1-44F9-A04D-2EA01712822A}" type="datetimeFigureOut">
              <a:rPr lang="en-SG" smtClean="0"/>
              <a:t>9/6/2023</a:t>
            </a:fld>
            <a:endParaRPr lang="en-SG"/>
          </a:p>
        </p:txBody>
      </p:sp>
      <p:sp>
        <p:nvSpPr>
          <p:cNvPr id="5" name="Footer Placeholder 4">
            <a:extLst>
              <a:ext uri="{FF2B5EF4-FFF2-40B4-BE49-F238E27FC236}">
                <a16:creationId xmlns:a16="http://schemas.microsoft.com/office/drawing/2014/main" id="{4F9FC5AC-1E07-981E-FB54-CD3FF91924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FF1F8FD3-3E26-C941-892B-4FE7BC6D42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903057-E60C-4F06-B7EA-D95C5A1DB2C8}" type="slidenum">
              <a:rPr lang="en-SG" smtClean="0"/>
              <a:t>‹#›</a:t>
            </a:fld>
            <a:endParaRPr lang="en-SG"/>
          </a:p>
        </p:txBody>
      </p:sp>
    </p:spTree>
    <p:extLst>
      <p:ext uri="{BB962C8B-B14F-4D97-AF65-F5344CB8AC3E}">
        <p14:creationId xmlns:p14="http://schemas.microsoft.com/office/powerpoint/2010/main" val="7334699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4.xml"/><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xml"/><Relationship Id="rId5" Type="http://schemas.openxmlformats.org/officeDocument/2006/relationships/image" Target="../media/image31.pn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4.png"/><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4.xml"/><Relationship Id="rId4" Type="http://schemas.openxmlformats.org/officeDocument/2006/relationships/image" Target="../media/image41.png"/></Relationships>
</file>

<file path=ppt/slides/_rels/slide1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4.xml"/><Relationship Id="rId5" Type="http://schemas.openxmlformats.org/officeDocument/2006/relationships/image" Target="../media/image46.png"/><Relationship Id="rId4" Type="http://schemas.openxmlformats.org/officeDocument/2006/relationships/image" Target="../media/image4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EAC65-2E3A-3593-9DB9-C3A51EFA48BF}"/>
              </a:ext>
            </a:extLst>
          </p:cNvPr>
          <p:cNvSpPr>
            <a:spLocks noGrp="1"/>
          </p:cNvSpPr>
          <p:nvPr>
            <p:ph type="ctrTitle"/>
          </p:nvPr>
        </p:nvSpPr>
        <p:spPr/>
        <p:txBody>
          <a:bodyPr/>
          <a:lstStyle/>
          <a:p>
            <a:r>
              <a:rPr lang="en-US" dirty="0"/>
              <a:t>AIML CA1: Part A Classification</a:t>
            </a:r>
            <a:endParaRPr lang="en-SG" dirty="0"/>
          </a:p>
        </p:txBody>
      </p:sp>
      <p:sp>
        <p:nvSpPr>
          <p:cNvPr id="3" name="Subtitle 2">
            <a:extLst>
              <a:ext uri="{FF2B5EF4-FFF2-40B4-BE49-F238E27FC236}">
                <a16:creationId xmlns:a16="http://schemas.microsoft.com/office/drawing/2014/main" id="{8C96E6E4-4A51-871F-E52C-67411154C520}"/>
              </a:ext>
            </a:extLst>
          </p:cNvPr>
          <p:cNvSpPr>
            <a:spLocks noGrp="1"/>
          </p:cNvSpPr>
          <p:nvPr>
            <p:ph type="subTitle" idx="1"/>
          </p:nvPr>
        </p:nvSpPr>
        <p:spPr/>
        <p:txBody>
          <a:bodyPr/>
          <a:lstStyle/>
          <a:p>
            <a:r>
              <a:rPr lang="en-US" dirty="0"/>
              <a:t>Name: Glenn Wu</a:t>
            </a:r>
          </a:p>
          <a:p>
            <a:r>
              <a:rPr lang="en-US" dirty="0"/>
              <a:t>Admin No.: 2214395</a:t>
            </a:r>
          </a:p>
          <a:p>
            <a:r>
              <a:rPr lang="en-US" dirty="0"/>
              <a:t>Class: DAAA/FT/2A/01</a:t>
            </a:r>
            <a:endParaRPr lang="en-SG" dirty="0"/>
          </a:p>
        </p:txBody>
      </p:sp>
    </p:spTree>
    <p:extLst>
      <p:ext uri="{BB962C8B-B14F-4D97-AF65-F5344CB8AC3E}">
        <p14:creationId xmlns:p14="http://schemas.microsoft.com/office/powerpoint/2010/main" val="11187267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5FBD0-02F9-9FC9-BD4D-DEF2857EAAE8}"/>
              </a:ext>
            </a:extLst>
          </p:cNvPr>
          <p:cNvSpPr>
            <a:spLocks noGrp="1"/>
          </p:cNvSpPr>
          <p:nvPr>
            <p:ph type="title"/>
          </p:nvPr>
        </p:nvSpPr>
        <p:spPr/>
        <p:txBody>
          <a:bodyPr/>
          <a:lstStyle/>
          <a:p>
            <a:r>
              <a:rPr lang="en-US" dirty="0"/>
              <a:t>Data Exploration</a:t>
            </a:r>
            <a:endParaRPr lang="en-SG" dirty="0"/>
          </a:p>
        </p:txBody>
      </p:sp>
      <p:sp>
        <p:nvSpPr>
          <p:cNvPr id="4" name="Content Placeholder 3">
            <a:extLst>
              <a:ext uri="{FF2B5EF4-FFF2-40B4-BE49-F238E27FC236}">
                <a16:creationId xmlns:a16="http://schemas.microsoft.com/office/drawing/2014/main" id="{44712888-63E9-EB34-1884-20B5C6109A84}"/>
              </a:ext>
            </a:extLst>
          </p:cNvPr>
          <p:cNvSpPr>
            <a:spLocks noGrp="1"/>
          </p:cNvSpPr>
          <p:nvPr>
            <p:ph sz="half" idx="2"/>
          </p:nvPr>
        </p:nvSpPr>
        <p:spPr>
          <a:xfrm>
            <a:off x="3951579" y="1690687"/>
            <a:ext cx="1985709" cy="2872211"/>
          </a:xfrm>
        </p:spPr>
        <p:txBody>
          <a:bodyPr>
            <a:normAutofit/>
          </a:bodyPr>
          <a:lstStyle/>
          <a:p>
            <a:r>
              <a:rPr lang="en-US" sz="1600" dirty="0"/>
              <a:t>The customer ID column is unique to each customer and independent from the rest of the columns, thus I will remove it. </a:t>
            </a:r>
            <a:endParaRPr lang="en-SG" sz="1600" dirty="0"/>
          </a:p>
        </p:txBody>
      </p:sp>
      <p:pic>
        <p:nvPicPr>
          <p:cNvPr id="2054" name="Picture 6">
            <a:extLst>
              <a:ext uri="{FF2B5EF4-FFF2-40B4-BE49-F238E27FC236}">
                <a16:creationId xmlns:a16="http://schemas.microsoft.com/office/drawing/2014/main" id="{C20CC3E7-2F49-9117-6FC1-FD4D97EDF708}"/>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518971" y="1690687"/>
            <a:ext cx="3392929" cy="2683893"/>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DCAFF7A8-7C12-E097-3A34-B6BFC234E6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7288" y="1631169"/>
            <a:ext cx="3194877" cy="2440182"/>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3">
            <a:extLst>
              <a:ext uri="{FF2B5EF4-FFF2-40B4-BE49-F238E27FC236}">
                <a16:creationId xmlns:a16="http://schemas.microsoft.com/office/drawing/2014/main" id="{A6E0D74C-B7B8-EAB0-C227-D119F2D46484}"/>
              </a:ext>
            </a:extLst>
          </p:cNvPr>
          <p:cNvSpPr txBox="1">
            <a:spLocks/>
          </p:cNvSpPr>
          <p:nvPr/>
        </p:nvSpPr>
        <p:spPr>
          <a:xfrm>
            <a:off x="9132165" y="1690687"/>
            <a:ext cx="2446628" cy="287221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We must </a:t>
            </a:r>
            <a:r>
              <a:rPr lang="en-US" sz="1600" u="sng" dirty="0"/>
              <a:t>predict whether a customer will default given certain information</a:t>
            </a:r>
            <a:r>
              <a:rPr lang="en-US" sz="1600" dirty="0"/>
              <a:t>. There is an imbalance in the number of Positive (1) and Negative (0) classes.</a:t>
            </a:r>
            <a:endParaRPr lang="en-SG" sz="1600" dirty="0"/>
          </a:p>
        </p:txBody>
      </p:sp>
      <p:pic>
        <p:nvPicPr>
          <p:cNvPr id="2064" name="Picture 16">
            <a:extLst>
              <a:ext uri="{FF2B5EF4-FFF2-40B4-BE49-F238E27FC236}">
                <a16:creationId xmlns:a16="http://schemas.microsoft.com/office/drawing/2014/main" id="{396046A5-5A8F-50A2-F3A4-EF2253F4D0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5759" y="4374580"/>
            <a:ext cx="2931765" cy="2038575"/>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a:extLst>
              <a:ext uri="{FF2B5EF4-FFF2-40B4-BE49-F238E27FC236}">
                <a16:creationId xmlns:a16="http://schemas.microsoft.com/office/drawing/2014/main" id="{0CE146F4-47D7-75EA-75C0-2A17D57D553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44433" y="4374581"/>
            <a:ext cx="2931764" cy="2038575"/>
          </a:xfrm>
          <a:prstGeom prst="rect">
            <a:avLst/>
          </a:prstGeom>
          <a:noFill/>
          <a:extLst>
            <a:ext uri="{909E8E84-426E-40DD-AFC4-6F175D3DCCD1}">
              <a14:hiddenFill xmlns:a14="http://schemas.microsoft.com/office/drawing/2010/main">
                <a:solidFill>
                  <a:srgbClr val="FFFFFF"/>
                </a:solidFill>
              </a14:hiddenFill>
            </a:ext>
          </a:extLst>
        </p:spPr>
      </p:pic>
      <p:pic>
        <p:nvPicPr>
          <p:cNvPr id="2068" name="Picture 20">
            <a:extLst>
              <a:ext uri="{FF2B5EF4-FFF2-40B4-BE49-F238E27FC236}">
                <a16:creationId xmlns:a16="http://schemas.microsoft.com/office/drawing/2014/main" id="{BC6AA115-3B1F-A69F-8B67-CAFF51F98E2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33106" y="4374581"/>
            <a:ext cx="2931765" cy="2038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59204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5FBD0-02F9-9FC9-BD4D-DEF2857EAAE8}"/>
              </a:ext>
            </a:extLst>
          </p:cNvPr>
          <p:cNvSpPr>
            <a:spLocks noGrp="1"/>
          </p:cNvSpPr>
          <p:nvPr>
            <p:ph type="title"/>
          </p:nvPr>
        </p:nvSpPr>
        <p:spPr/>
        <p:txBody>
          <a:bodyPr/>
          <a:lstStyle/>
          <a:p>
            <a:r>
              <a:rPr lang="en-US" dirty="0"/>
              <a:t>Data Exploration/Feature Engineering: </a:t>
            </a:r>
            <a:br>
              <a:rPr lang="en-US" dirty="0"/>
            </a:br>
            <a:r>
              <a:rPr lang="en-US" dirty="0"/>
              <a:t>Yeo-Johnson Transformation</a:t>
            </a:r>
            <a:endParaRPr lang="en-SG" dirty="0"/>
          </a:p>
        </p:txBody>
      </p:sp>
      <p:pic>
        <p:nvPicPr>
          <p:cNvPr id="3078" name="Picture 6">
            <a:extLst>
              <a:ext uri="{FF2B5EF4-FFF2-40B4-BE49-F238E27FC236}">
                <a16:creationId xmlns:a16="http://schemas.microsoft.com/office/drawing/2014/main" id="{73693A64-6D41-8F17-0B02-3D41691AA38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000"/>
          <a:stretch/>
        </p:blipFill>
        <p:spPr bwMode="auto">
          <a:xfrm>
            <a:off x="6096000" y="1825626"/>
            <a:ext cx="2744787" cy="3862370"/>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a:extLst>
              <a:ext uri="{FF2B5EF4-FFF2-40B4-BE49-F238E27FC236}">
                <a16:creationId xmlns:a16="http://schemas.microsoft.com/office/drawing/2014/main" id="{6A4C8A36-2715-27D2-E44A-F68EFB8CF3D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0000"/>
          <a:stretch/>
        </p:blipFill>
        <p:spPr bwMode="auto">
          <a:xfrm>
            <a:off x="8840787" y="1825626"/>
            <a:ext cx="2744787" cy="3862370"/>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a:extLst>
              <a:ext uri="{FF2B5EF4-FFF2-40B4-BE49-F238E27FC236}">
                <a16:creationId xmlns:a16="http://schemas.microsoft.com/office/drawing/2014/main" id="{4A0145AD-0D6D-2400-A2A5-B13B01262F7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0000"/>
          <a:stretch/>
        </p:blipFill>
        <p:spPr bwMode="auto">
          <a:xfrm>
            <a:off x="234462" y="1825626"/>
            <a:ext cx="2744787" cy="3862370"/>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a:extLst>
              <a:ext uri="{FF2B5EF4-FFF2-40B4-BE49-F238E27FC236}">
                <a16:creationId xmlns:a16="http://schemas.microsoft.com/office/drawing/2014/main" id="{D7E1E5B9-7246-E8A7-0B6E-9F7DA75898F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0000"/>
          <a:stretch/>
        </p:blipFill>
        <p:spPr bwMode="auto">
          <a:xfrm>
            <a:off x="2979249" y="1825625"/>
            <a:ext cx="2744787" cy="386237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A362C4B-08FC-F76F-A6A0-A0C428AEADD0}"/>
              </a:ext>
            </a:extLst>
          </p:cNvPr>
          <p:cNvSpPr txBox="1"/>
          <p:nvPr/>
        </p:nvSpPr>
        <p:spPr>
          <a:xfrm>
            <a:off x="704413" y="5687996"/>
            <a:ext cx="4549672" cy="584775"/>
          </a:xfrm>
          <a:prstGeom prst="rect">
            <a:avLst/>
          </a:prstGeom>
          <a:noFill/>
        </p:spPr>
        <p:txBody>
          <a:bodyPr wrap="square" rtlCol="0">
            <a:spAutoFit/>
          </a:bodyPr>
          <a:lstStyle/>
          <a:p>
            <a:pPr algn="ctr"/>
            <a:r>
              <a:rPr lang="en-US" sz="1600" dirty="0"/>
              <a:t>All the continuous numerical columns are highly skewed</a:t>
            </a:r>
            <a:endParaRPr lang="en-SG" sz="1600" dirty="0"/>
          </a:p>
        </p:txBody>
      </p:sp>
      <p:sp>
        <p:nvSpPr>
          <p:cNvPr id="7" name="TextBox 6">
            <a:extLst>
              <a:ext uri="{FF2B5EF4-FFF2-40B4-BE49-F238E27FC236}">
                <a16:creationId xmlns:a16="http://schemas.microsoft.com/office/drawing/2014/main" id="{0CAC9119-1B93-5C41-7448-58D556378BF6}"/>
              </a:ext>
            </a:extLst>
          </p:cNvPr>
          <p:cNvSpPr txBox="1"/>
          <p:nvPr/>
        </p:nvSpPr>
        <p:spPr>
          <a:xfrm>
            <a:off x="6565951" y="5687996"/>
            <a:ext cx="4549672" cy="584775"/>
          </a:xfrm>
          <a:prstGeom prst="rect">
            <a:avLst/>
          </a:prstGeom>
          <a:noFill/>
        </p:spPr>
        <p:txBody>
          <a:bodyPr wrap="square" rtlCol="0">
            <a:spAutoFit/>
          </a:bodyPr>
          <a:lstStyle/>
          <a:p>
            <a:pPr algn="ctr"/>
            <a:r>
              <a:rPr lang="en-US" sz="1600" dirty="0"/>
              <a:t>After applying the Yeo-Johnson Transformation they are un-skewed (-0.5 &lt; skew &lt; 0.5)</a:t>
            </a:r>
            <a:endParaRPr lang="en-SG" sz="1600" dirty="0"/>
          </a:p>
        </p:txBody>
      </p:sp>
    </p:spTree>
    <p:extLst>
      <p:ext uri="{BB962C8B-B14F-4D97-AF65-F5344CB8AC3E}">
        <p14:creationId xmlns:p14="http://schemas.microsoft.com/office/powerpoint/2010/main" val="204941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5FBD0-02F9-9FC9-BD4D-DEF2857EAAE8}"/>
              </a:ext>
            </a:extLst>
          </p:cNvPr>
          <p:cNvSpPr>
            <a:spLocks noGrp="1"/>
          </p:cNvSpPr>
          <p:nvPr>
            <p:ph type="title"/>
          </p:nvPr>
        </p:nvSpPr>
        <p:spPr/>
        <p:txBody>
          <a:bodyPr/>
          <a:lstStyle/>
          <a:p>
            <a:r>
              <a:rPr lang="en-US" dirty="0"/>
              <a:t>Data Exploration/Feature Engineering</a:t>
            </a:r>
            <a:endParaRPr lang="en-SG" dirty="0"/>
          </a:p>
        </p:txBody>
      </p:sp>
      <p:sp>
        <p:nvSpPr>
          <p:cNvPr id="3" name="Content Placeholder 2">
            <a:extLst>
              <a:ext uri="{FF2B5EF4-FFF2-40B4-BE49-F238E27FC236}">
                <a16:creationId xmlns:a16="http://schemas.microsoft.com/office/drawing/2014/main" id="{9A5D4A43-C969-02F0-12D4-D7700778E25B}"/>
              </a:ext>
            </a:extLst>
          </p:cNvPr>
          <p:cNvSpPr>
            <a:spLocks noGrp="1"/>
          </p:cNvSpPr>
          <p:nvPr>
            <p:ph sz="half" idx="1"/>
          </p:nvPr>
        </p:nvSpPr>
        <p:spPr>
          <a:xfrm>
            <a:off x="3132767" y="1690688"/>
            <a:ext cx="3170641" cy="4351338"/>
          </a:xfrm>
        </p:spPr>
        <p:txBody>
          <a:bodyPr>
            <a:normAutofit/>
          </a:bodyPr>
          <a:lstStyle/>
          <a:p>
            <a:r>
              <a:rPr lang="en-US" sz="1600" dirty="0"/>
              <a:t>Some rows in the </a:t>
            </a:r>
            <a:r>
              <a:rPr lang="en-US" sz="1600" dirty="0" err="1"/>
              <a:t>Bill_Amounts</a:t>
            </a:r>
            <a:r>
              <a:rPr lang="en-US" sz="1600" dirty="0"/>
              <a:t> are less than zero.</a:t>
            </a:r>
          </a:p>
          <a:p>
            <a:r>
              <a:rPr lang="en-US" sz="1600" dirty="0"/>
              <a:t>For Bill_Amount1, when the value is less than zero, there is a higher chance that the customer will default, 31.43% compared to 21.02% if they have a bill equal to or more than zero.</a:t>
            </a:r>
          </a:p>
          <a:p>
            <a:r>
              <a:rPr lang="en-US" sz="1600" dirty="0"/>
              <a:t>Thus, I also One-Hot encode this column</a:t>
            </a:r>
            <a:endParaRPr lang="en-SG" sz="1600" dirty="0"/>
          </a:p>
        </p:txBody>
      </p:sp>
      <p:pic>
        <p:nvPicPr>
          <p:cNvPr id="6146" name="Picture 2">
            <a:extLst>
              <a:ext uri="{FF2B5EF4-FFF2-40B4-BE49-F238E27FC236}">
                <a16:creationId xmlns:a16="http://schemas.microsoft.com/office/drawing/2014/main" id="{98BE7203-CDCA-2E5E-444A-38E621BC01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690688"/>
            <a:ext cx="2294567" cy="417369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FCBFAB1B-F183-29A9-42A1-0F443599E855}"/>
              </a:ext>
            </a:extLst>
          </p:cNvPr>
          <p:cNvPicPr>
            <a:picLocks noChangeAspect="1"/>
          </p:cNvPicPr>
          <p:nvPr/>
        </p:nvPicPr>
        <p:blipFill>
          <a:blip r:embed="rId3"/>
          <a:stretch>
            <a:fillRect/>
          </a:stretch>
        </p:blipFill>
        <p:spPr>
          <a:xfrm>
            <a:off x="6303408" y="1856188"/>
            <a:ext cx="5155454" cy="183189"/>
          </a:xfrm>
          <a:prstGeom prst="rect">
            <a:avLst/>
          </a:prstGeom>
        </p:spPr>
      </p:pic>
      <p:pic>
        <p:nvPicPr>
          <p:cNvPr id="8" name="Picture 7">
            <a:extLst>
              <a:ext uri="{FF2B5EF4-FFF2-40B4-BE49-F238E27FC236}">
                <a16:creationId xmlns:a16="http://schemas.microsoft.com/office/drawing/2014/main" id="{5A4D2F8C-3F0A-01F1-0BCB-A703F6B2BB16}"/>
              </a:ext>
            </a:extLst>
          </p:cNvPr>
          <p:cNvPicPr>
            <a:picLocks noChangeAspect="1"/>
          </p:cNvPicPr>
          <p:nvPr/>
        </p:nvPicPr>
        <p:blipFill>
          <a:blip r:embed="rId4"/>
          <a:stretch>
            <a:fillRect/>
          </a:stretch>
        </p:blipFill>
        <p:spPr>
          <a:xfrm>
            <a:off x="6303408" y="2039377"/>
            <a:ext cx="3993113" cy="185032"/>
          </a:xfrm>
          <a:prstGeom prst="rect">
            <a:avLst/>
          </a:prstGeom>
        </p:spPr>
      </p:pic>
      <p:pic>
        <p:nvPicPr>
          <p:cNvPr id="10" name="Picture 9">
            <a:extLst>
              <a:ext uri="{FF2B5EF4-FFF2-40B4-BE49-F238E27FC236}">
                <a16:creationId xmlns:a16="http://schemas.microsoft.com/office/drawing/2014/main" id="{9C0FB0C2-7E66-C042-1811-3C338833EABF}"/>
              </a:ext>
            </a:extLst>
          </p:cNvPr>
          <p:cNvPicPr>
            <a:picLocks noChangeAspect="1"/>
          </p:cNvPicPr>
          <p:nvPr/>
        </p:nvPicPr>
        <p:blipFill>
          <a:blip r:embed="rId5"/>
          <a:stretch>
            <a:fillRect/>
          </a:stretch>
        </p:blipFill>
        <p:spPr>
          <a:xfrm>
            <a:off x="6303407" y="2222566"/>
            <a:ext cx="5155455" cy="590364"/>
          </a:xfrm>
          <a:prstGeom prst="rect">
            <a:avLst/>
          </a:prstGeom>
        </p:spPr>
      </p:pic>
      <p:pic>
        <p:nvPicPr>
          <p:cNvPr id="12" name="Picture 11">
            <a:extLst>
              <a:ext uri="{FF2B5EF4-FFF2-40B4-BE49-F238E27FC236}">
                <a16:creationId xmlns:a16="http://schemas.microsoft.com/office/drawing/2014/main" id="{E8370024-B501-AAB8-CDBE-AC755C478487}"/>
              </a:ext>
            </a:extLst>
          </p:cNvPr>
          <p:cNvPicPr>
            <a:picLocks noChangeAspect="1"/>
          </p:cNvPicPr>
          <p:nvPr/>
        </p:nvPicPr>
        <p:blipFill>
          <a:blip r:embed="rId6"/>
          <a:stretch>
            <a:fillRect/>
          </a:stretch>
        </p:blipFill>
        <p:spPr>
          <a:xfrm>
            <a:off x="6303407" y="2812930"/>
            <a:ext cx="4819998" cy="177113"/>
          </a:xfrm>
          <a:prstGeom prst="rect">
            <a:avLst/>
          </a:prstGeom>
        </p:spPr>
      </p:pic>
      <p:pic>
        <p:nvPicPr>
          <p:cNvPr id="14" name="Picture 13">
            <a:extLst>
              <a:ext uri="{FF2B5EF4-FFF2-40B4-BE49-F238E27FC236}">
                <a16:creationId xmlns:a16="http://schemas.microsoft.com/office/drawing/2014/main" id="{04824210-B863-BF87-E36B-B54CE4F979A2}"/>
              </a:ext>
            </a:extLst>
          </p:cNvPr>
          <p:cNvPicPr>
            <a:picLocks noChangeAspect="1"/>
          </p:cNvPicPr>
          <p:nvPr/>
        </p:nvPicPr>
        <p:blipFill>
          <a:blip r:embed="rId7"/>
          <a:stretch>
            <a:fillRect/>
          </a:stretch>
        </p:blipFill>
        <p:spPr>
          <a:xfrm>
            <a:off x="6303407" y="2990043"/>
            <a:ext cx="4741879" cy="492499"/>
          </a:xfrm>
          <a:prstGeom prst="rect">
            <a:avLst/>
          </a:prstGeom>
        </p:spPr>
      </p:pic>
      <p:pic>
        <p:nvPicPr>
          <p:cNvPr id="16" name="Picture 15">
            <a:extLst>
              <a:ext uri="{FF2B5EF4-FFF2-40B4-BE49-F238E27FC236}">
                <a16:creationId xmlns:a16="http://schemas.microsoft.com/office/drawing/2014/main" id="{F1612742-ADDC-1B73-BC2C-39F1ED7B3B15}"/>
              </a:ext>
            </a:extLst>
          </p:cNvPr>
          <p:cNvPicPr>
            <a:picLocks noChangeAspect="1"/>
          </p:cNvPicPr>
          <p:nvPr/>
        </p:nvPicPr>
        <p:blipFill>
          <a:blip r:embed="rId8"/>
          <a:stretch>
            <a:fillRect/>
          </a:stretch>
        </p:blipFill>
        <p:spPr>
          <a:xfrm>
            <a:off x="6303406" y="3439360"/>
            <a:ext cx="1313439" cy="605712"/>
          </a:xfrm>
          <a:prstGeom prst="rect">
            <a:avLst/>
          </a:prstGeom>
        </p:spPr>
      </p:pic>
      <p:sp>
        <p:nvSpPr>
          <p:cNvPr id="17" name="TextBox 16">
            <a:extLst>
              <a:ext uri="{FF2B5EF4-FFF2-40B4-BE49-F238E27FC236}">
                <a16:creationId xmlns:a16="http://schemas.microsoft.com/office/drawing/2014/main" id="{AACA4B71-1226-BB2E-59DA-717F5CAB8C49}"/>
              </a:ext>
            </a:extLst>
          </p:cNvPr>
          <p:cNvSpPr txBox="1"/>
          <p:nvPr/>
        </p:nvSpPr>
        <p:spPr>
          <a:xfrm>
            <a:off x="6303405" y="4045071"/>
            <a:ext cx="2881889" cy="338554"/>
          </a:xfrm>
          <a:prstGeom prst="rect">
            <a:avLst/>
          </a:prstGeom>
          <a:noFill/>
        </p:spPr>
        <p:txBody>
          <a:bodyPr wrap="square" rtlCol="0">
            <a:spAutoFit/>
          </a:bodyPr>
          <a:lstStyle/>
          <a:p>
            <a:r>
              <a:rPr lang="en-US" sz="1600" dirty="0"/>
              <a:t>Usage example with pipeline:</a:t>
            </a:r>
            <a:endParaRPr lang="en-SG" sz="1600" dirty="0"/>
          </a:p>
        </p:txBody>
      </p:sp>
      <p:pic>
        <p:nvPicPr>
          <p:cNvPr id="19" name="Picture 18">
            <a:extLst>
              <a:ext uri="{FF2B5EF4-FFF2-40B4-BE49-F238E27FC236}">
                <a16:creationId xmlns:a16="http://schemas.microsoft.com/office/drawing/2014/main" id="{5BE0C0BF-8D9F-6F1B-B34C-94FF5F9D8265}"/>
              </a:ext>
            </a:extLst>
          </p:cNvPr>
          <p:cNvPicPr>
            <a:picLocks noChangeAspect="1"/>
          </p:cNvPicPr>
          <p:nvPr/>
        </p:nvPicPr>
        <p:blipFill>
          <a:blip r:embed="rId9"/>
          <a:stretch>
            <a:fillRect/>
          </a:stretch>
        </p:blipFill>
        <p:spPr>
          <a:xfrm>
            <a:off x="6303405" y="4388495"/>
            <a:ext cx="3105583" cy="219106"/>
          </a:xfrm>
          <a:prstGeom prst="rect">
            <a:avLst/>
          </a:prstGeom>
        </p:spPr>
      </p:pic>
    </p:spTree>
    <p:extLst>
      <p:ext uri="{BB962C8B-B14F-4D97-AF65-F5344CB8AC3E}">
        <p14:creationId xmlns:p14="http://schemas.microsoft.com/office/powerpoint/2010/main" val="7196238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5FBD0-02F9-9FC9-BD4D-DEF2857EAAE8}"/>
              </a:ext>
            </a:extLst>
          </p:cNvPr>
          <p:cNvSpPr>
            <a:spLocks noGrp="1"/>
          </p:cNvSpPr>
          <p:nvPr>
            <p:ph type="title"/>
          </p:nvPr>
        </p:nvSpPr>
        <p:spPr/>
        <p:txBody>
          <a:bodyPr/>
          <a:lstStyle/>
          <a:p>
            <a:r>
              <a:rPr lang="en-US" dirty="0"/>
              <a:t>Model Selection</a:t>
            </a:r>
            <a:endParaRPr lang="en-SG" dirty="0"/>
          </a:p>
        </p:txBody>
      </p:sp>
      <p:sp>
        <p:nvSpPr>
          <p:cNvPr id="3" name="Content Placeholder 2">
            <a:extLst>
              <a:ext uri="{FF2B5EF4-FFF2-40B4-BE49-F238E27FC236}">
                <a16:creationId xmlns:a16="http://schemas.microsoft.com/office/drawing/2014/main" id="{9A5D4A43-C969-02F0-12D4-D7700778E25B}"/>
              </a:ext>
            </a:extLst>
          </p:cNvPr>
          <p:cNvSpPr>
            <a:spLocks noGrp="1"/>
          </p:cNvSpPr>
          <p:nvPr>
            <p:ph sz="half" idx="1"/>
          </p:nvPr>
        </p:nvSpPr>
        <p:spPr>
          <a:xfrm>
            <a:off x="838200" y="1825625"/>
            <a:ext cx="5181600" cy="693400"/>
          </a:xfrm>
        </p:spPr>
        <p:txBody>
          <a:bodyPr>
            <a:normAutofit/>
          </a:bodyPr>
          <a:lstStyle/>
          <a:p>
            <a:r>
              <a:rPr lang="en-US" sz="1600" dirty="0"/>
              <a:t>Scoring Metrics:</a:t>
            </a:r>
          </a:p>
          <a:p>
            <a:pPr lvl="1"/>
            <a:endParaRPr lang="en-SG" sz="1200" dirty="0"/>
          </a:p>
        </p:txBody>
      </p:sp>
      <p:graphicFrame>
        <p:nvGraphicFramePr>
          <p:cNvPr id="5" name="Table 5">
            <a:extLst>
              <a:ext uri="{FF2B5EF4-FFF2-40B4-BE49-F238E27FC236}">
                <a16:creationId xmlns:a16="http://schemas.microsoft.com/office/drawing/2014/main" id="{45448A04-3502-9F5C-3DBB-9CB02F259D3C}"/>
              </a:ext>
            </a:extLst>
          </p:cNvPr>
          <p:cNvGraphicFramePr>
            <a:graphicFrameLocks/>
          </p:cNvGraphicFramePr>
          <p:nvPr>
            <p:extLst>
              <p:ext uri="{D42A27DB-BD31-4B8C-83A1-F6EECF244321}">
                <p14:modId xmlns:p14="http://schemas.microsoft.com/office/powerpoint/2010/main" val="2163668168"/>
              </p:ext>
            </p:extLst>
          </p:nvPr>
        </p:nvGraphicFramePr>
        <p:xfrm>
          <a:off x="6601870" y="1935322"/>
          <a:ext cx="5163412" cy="3258726"/>
        </p:xfrm>
        <a:graphic>
          <a:graphicData uri="http://schemas.openxmlformats.org/drawingml/2006/table">
            <a:tbl>
              <a:tblPr firstRow="1" bandRow="1">
                <a:tableStyleId>{5C22544A-7EE6-4342-B048-85BDC9FD1C3A}</a:tableStyleId>
              </a:tblPr>
              <a:tblGrid>
                <a:gridCol w="860567">
                  <a:extLst>
                    <a:ext uri="{9D8B030D-6E8A-4147-A177-3AD203B41FA5}">
                      <a16:colId xmlns:a16="http://schemas.microsoft.com/office/drawing/2014/main" val="14164564"/>
                    </a:ext>
                  </a:extLst>
                </a:gridCol>
                <a:gridCol w="860567">
                  <a:extLst>
                    <a:ext uri="{9D8B030D-6E8A-4147-A177-3AD203B41FA5}">
                      <a16:colId xmlns:a16="http://schemas.microsoft.com/office/drawing/2014/main" val="2690781210"/>
                    </a:ext>
                  </a:extLst>
                </a:gridCol>
                <a:gridCol w="1721139">
                  <a:extLst>
                    <a:ext uri="{9D8B030D-6E8A-4147-A177-3AD203B41FA5}">
                      <a16:colId xmlns:a16="http://schemas.microsoft.com/office/drawing/2014/main" val="4062194305"/>
                    </a:ext>
                  </a:extLst>
                </a:gridCol>
                <a:gridCol w="1721139">
                  <a:extLst>
                    <a:ext uri="{9D8B030D-6E8A-4147-A177-3AD203B41FA5}">
                      <a16:colId xmlns:a16="http://schemas.microsoft.com/office/drawing/2014/main" val="3160555422"/>
                    </a:ext>
                  </a:extLst>
                </a:gridCol>
              </a:tblGrid>
              <a:tr h="628508">
                <a:tc>
                  <a:txBody>
                    <a:bodyPr/>
                    <a:lstStyle/>
                    <a:p>
                      <a:endParaRPr lang="en-SG"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solidFill>
                            <a:schemeClr val="tx1"/>
                          </a:solidFill>
                        </a:rPr>
                        <a:t>Predicted</a:t>
                      </a:r>
                      <a:endParaRPr lang="en-SG" sz="10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noFill/>
                  </a:tcPr>
                </a:tc>
                <a:tc rowSpan="2">
                  <a:txBody>
                    <a:bodyPr/>
                    <a:lstStyle/>
                    <a:p>
                      <a:pPr algn="ctr"/>
                      <a:r>
                        <a:rPr lang="en-US" dirty="0">
                          <a:solidFill>
                            <a:schemeClr val="tx1"/>
                          </a:solidFill>
                        </a:rPr>
                        <a:t>Negative</a:t>
                      </a:r>
                    </a:p>
                    <a:p>
                      <a:pPr algn="ctr"/>
                      <a:r>
                        <a:rPr lang="en-US" dirty="0">
                          <a:solidFill>
                            <a:schemeClr val="tx1"/>
                          </a:solidFill>
                        </a:rPr>
                        <a:t>(did not default)</a:t>
                      </a:r>
                      <a:endParaRPr lang="en-SG"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a:r>
                        <a:rPr lang="en-US" dirty="0">
                          <a:solidFill>
                            <a:schemeClr val="tx1"/>
                          </a:solidFill>
                        </a:rPr>
                        <a:t>Positive</a:t>
                      </a:r>
                    </a:p>
                    <a:p>
                      <a:pPr algn="ctr"/>
                      <a:r>
                        <a:rPr lang="en-US" dirty="0">
                          <a:solidFill>
                            <a:schemeClr val="tx1"/>
                          </a:solidFill>
                        </a:rPr>
                        <a:t>(defaulted)</a:t>
                      </a:r>
                      <a:endParaRPr lang="en-SG"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0084"/>
                  </a:ext>
                </a:extLst>
              </a:tr>
              <a:tr h="55683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dirty="0"/>
                        <a:t>Actual</a:t>
                      </a:r>
                      <a:endParaRPr lang="en-SG" sz="1000" b="1"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noFill/>
                  </a:tcPr>
                </a:tc>
                <a:tc>
                  <a:txBody>
                    <a:bodyPr/>
                    <a:lstStyle/>
                    <a:p>
                      <a:endParaRPr lang="en-SG"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noFill/>
                  </a:tcPr>
                </a:tc>
                <a:tc vMerge="1">
                  <a:txBody>
                    <a:bodyPr/>
                    <a:lstStyle/>
                    <a:p>
                      <a:endParaRPr lang="en-SG"/>
                    </a:p>
                  </a:txBody>
                  <a:tcPr/>
                </a:tc>
                <a:tc vMerge="1">
                  <a:txBody>
                    <a:bodyPr/>
                    <a:lstStyle/>
                    <a:p>
                      <a:endParaRPr lang="en-SG"/>
                    </a:p>
                  </a:txBody>
                  <a:tcPr/>
                </a:tc>
                <a:extLst>
                  <a:ext uri="{0D108BD9-81ED-4DB2-BD59-A6C34878D82A}">
                    <a16:rowId xmlns:a16="http://schemas.microsoft.com/office/drawing/2014/main" val="496362550"/>
                  </a:ext>
                </a:extLst>
              </a:tr>
              <a:tr h="1062350">
                <a:tc gridSpan="2">
                  <a:txBody>
                    <a:bodyPr/>
                    <a:lstStyle/>
                    <a:p>
                      <a:pPr algn="ctr"/>
                      <a:r>
                        <a:rPr lang="en-US" b="1" dirty="0"/>
                        <a:t>Negative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rPr>
                        <a:t>(did not default)</a:t>
                      </a: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SG"/>
                    </a:p>
                  </a:txBody>
                  <a:tcPr/>
                </a:tc>
                <a:tc>
                  <a:txBody>
                    <a:bodyPr/>
                    <a:lstStyle/>
                    <a:p>
                      <a:pPr algn="ctr"/>
                      <a:r>
                        <a:rPr lang="en-US" dirty="0"/>
                        <a:t>True Negative</a:t>
                      </a:r>
                      <a:endParaRPr lang="en-SG"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False Positive</a:t>
                      </a:r>
                      <a:endParaRPr lang="en-SG"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0597702"/>
                  </a:ext>
                </a:extLst>
              </a:tr>
              <a:tr h="1011034">
                <a:tc gridSpan="2">
                  <a:txBody>
                    <a:bodyPr/>
                    <a:lstStyle/>
                    <a:p>
                      <a:pPr algn="ctr"/>
                      <a:r>
                        <a:rPr lang="en-US" b="1" dirty="0"/>
                        <a:t>Positive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rPr>
                        <a:t>(defaulted)</a:t>
                      </a:r>
                      <a:endParaRPr lang="en-SG"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SG"/>
                    </a:p>
                  </a:txBody>
                  <a:tcPr/>
                </a:tc>
                <a:tc>
                  <a:txBody>
                    <a:bodyPr/>
                    <a:lstStyle/>
                    <a:p>
                      <a:pPr algn="ctr"/>
                      <a:r>
                        <a:rPr lang="en-US" dirty="0"/>
                        <a:t>False Negative</a:t>
                      </a:r>
                      <a:endParaRPr lang="en-SG"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True Positive</a:t>
                      </a:r>
                      <a:endParaRPr lang="en-SG"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7931868"/>
                  </a:ext>
                </a:extLst>
              </a:tr>
            </a:tbl>
          </a:graphicData>
        </a:graphic>
      </p:graphicFrame>
      <p:pic>
        <p:nvPicPr>
          <p:cNvPr id="7" name="Picture 6">
            <a:extLst>
              <a:ext uri="{FF2B5EF4-FFF2-40B4-BE49-F238E27FC236}">
                <a16:creationId xmlns:a16="http://schemas.microsoft.com/office/drawing/2014/main" id="{364F19EC-DE9F-CD67-1650-380795501231}"/>
              </a:ext>
            </a:extLst>
          </p:cNvPr>
          <p:cNvPicPr>
            <a:picLocks noChangeAspect="1"/>
          </p:cNvPicPr>
          <p:nvPr/>
        </p:nvPicPr>
        <p:blipFill>
          <a:blip r:embed="rId2"/>
          <a:stretch>
            <a:fillRect/>
          </a:stretch>
        </p:blipFill>
        <p:spPr>
          <a:xfrm>
            <a:off x="1172034" y="2125162"/>
            <a:ext cx="5277436" cy="2370146"/>
          </a:xfrm>
          <a:prstGeom prst="rect">
            <a:avLst/>
          </a:prstGeom>
        </p:spPr>
      </p:pic>
      <p:sp>
        <p:nvSpPr>
          <p:cNvPr id="9" name="Content Placeholder 2">
            <a:extLst>
              <a:ext uri="{FF2B5EF4-FFF2-40B4-BE49-F238E27FC236}">
                <a16:creationId xmlns:a16="http://schemas.microsoft.com/office/drawing/2014/main" id="{39882205-0A49-ED52-95A4-C11065347D10}"/>
              </a:ext>
            </a:extLst>
          </p:cNvPr>
          <p:cNvSpPr txBox="1">
            <a:spLocks/>
          </p:cNvSpPr>
          <p:nvPr/>
        </p:nvSpPr>
        <p:spPr>
          <a:xfrm>
            <a:off x="838200" y="4573899"/>
            <a:ext cx="5181600" cy="3467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Optimized Probability Threshold F1 Score</a:t>
            </a:r>
          </a:p>
          <a:p>
            <a:pPr lvl="1"/>
            <a:endParaRPr lang="en-SG" sz="1200" dirty="0"/>
          </a:p>
        </p:txBody>
      </p:sp>
      <p:pic>
        <p:nvPicPr>
          <p:cNvPr id="11" name="Picture 10">
            <a:extLst>
              <a:ext uri="{FF2B5EF4-FFF2-40B4-BE49-F238E27FC236}">
                <a16:creationId xmlns:a16="http://schemas.microsoft.com/office/drawing/2014/main" id="{98FA26B0-92B4-07F4-098B-68F7C195D5D7}"/>
              </a:ext>
            </a:extLst>
          </p:cNvPr>
          <p:cNvPicPr>
            <a:picLocks noChangeAspect="1"/>
          </p:cNvPicPr>
          <p:nvPr/>
        </p:nvPicPr>
        <p:blipFill>
          <a:blip r:embed="rId3"/>
          <a:stretch>
            <a:fillRect/>
          </a:stretch>
        </p:blipFill>
        <p:spPr>
          <a:xfrm>
            <a:off x="1089380" y="4922235"/>
            <a:ext cx="4550403" cy="1491688"/>
          </a:xfrm>
          <a:prstGeom prst="rect">
            <a:avLst/>
          </a:prstGeom>
        </p:spPr>
      </p:pic>
    </p:spTree>
    <p:extLst>
      <p:ext uri="{BB962C8B-B14F-4D97-AF65-F5344CB8AC3E}">
        <p14:creationId xmlns:p14="http://schemas.microsoft.com/office/powerpoint/2010/main" val="1249823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5FBD0-02F9-9FC9-BD4D-DEF2857EAAE8}"/>
              </a:ext>
            </a:extLst>
          </p:cNvPr>
          <p:cNvSpPr>
            <a:spLocks noGrp="1"/>
          </p:cNvSpPr>
          <p:nvPr>
            <p:ph type="title"/>
          </p:nvPr>
        </p:nvSpPr>
        <p:spPr/>
        <p:txBody>
          <a:bodyPr/>
          <a:lstStyle/>
          <a:p>
            <a:r>
              <a:rPr lang="en-US" dirty="0"/>
              <a:t>Model Selection: Resampling</a:t>
            </a:r>
            <a:endParaRPr lang="en-SG" dirty="0"/>
          </a:p>
        </p:txBody>
      </p:sp>
      <p:sp>
        <p:nvSpPr>
          <p:cNvPr id="3" name="Content Placeholder 2">
            <a:extLst>
              <a:ext uri="{FF2B5EF4-FFF2-40B4-BE49-F238E27FC236}">
                <a16:creationId xmlns:a16="http://schemas.microsoft.com/office/drawing/2014/main" id="{9A5D4A43-C969-02F0-12D4-D7700778E25B}"/>
              </a:ext>
            </a:extLst>
          </p:cNvPr>
          <p:cNvSpPr>
            <a:spLocks noGrp="1"/>
          </p:cNvSpPr>
          <p:nvPr>
            <p:ph sz="half" idx="1"/>
          </p:nvPr>
        </p:nvSpPr>
        <p:spPr>
          <a:xfrm>
            <a:off x="838201" y="1622323"/>
            <a:ext cx="3167462" cy="1763907"/>
          </a:xfrm>
        </p:spPr>
        <p:txBody>
          <a:bodyPr>
            <a:normAutofit/>
          </a:bodyPr>
          <a:lstStyle/>
          <a:p>
            <a:r>
              <a:rPr lang="en-US" sz="1600" dirty="0"/>
              <a:t>Resampling Methods to compensate for Class Imbalance:</a:t>
            </a:r>
          </a:p>
          <a:p>
            <a:pPr lvl="1"/>
            <a:r>
              <a:rPr lang="en-US" sz="1200" dirty="0" err="1"/>
              <a:t>RandomOverSampler</a:t>
            </a:r>
            <a:endParaRPr lang="en-US" sz="1200" dirty="0"/>
          </a:p>
          <a:p>
            <a:pPr lvl="1"/>
            <a:r>
              <a:rPr lang="en-US" sz="1200" dirty="0" err="1"/>
              <a:t>RandomUnderSampler</a:t>
            </a:r>
            <a:endParaRPr lang="en-US" sz="1200" dirty="0"/>
          </a:p>
          <a:p>
            <a:pPr lvl="1"/>
            <a:r>
              <a:rPr lang="en-US" sz="1200" dirty="0"/>
              <a:t>SMOTE</a:t>
            </a:r>
          </a:p>
          <a:p>
            <a:pPr lvl="1"/>
            <a:r>
              <a:rPr lang="en-US" sz="1200" dirty="0"/>
              <a:t>SMOTENC</a:t>
            </a:r>
          </a:p>
          <a:p>
            <a:pPr lvl="1"/>
            <a:endParaRPr lang="en-SG" sz="1200" dirty="0"/>
          </a:p>
        </p:txBody>
      </p:sp>
      <p:pic>
        <p:nvPicPr>
          <p:cNvPr id="4" name="Picture 8">
            <a:extLst>
              <a:ext uri="{FF2B5EF4-FFF2-40B4-BE49-F238E27FC236}">
                <a16:creationId xmlns:a16="http://schemas.microsoft.com/office/drawing/2014/main" id="{0FA1DA2C-8CE3-6837-D416-A8364A85B9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05663" y="1622323"/>
            <a:ext cx="2145722" cy="1638859"/>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2220EDE6-7F85-A483-79EE-86E71ED87E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5663" y="3261182"/>
            <a:ext cx="2145722" cy="1638859"/>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2">
            <a:extLst>
              <a:ext uri="{FF2B5EF4-FFF2-40B4-BE49-F238E27FC236}">
                <a16:creationId xmlns:a16="http://schemas.microsoft.com/office/drawing/2014/main" id="{82F2E4D6-DAAF-41F2-909F-33DCE5A2CBD0}"/>
              </a:ext>
            </a:extLst>
          </p:cNvPr>
          <p:cNvSpPr txBox="1">
            <a:spLocks/>
          </p:cNvSpPr>
          <p:nvPr/>
        </p:nvSpPr>
        <p:spPr>
          <a:xfrm>
            <a:off x="838199" y="3386230"/>
            <a:ext cx="3279551" cy="19133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err="1"/>
              <a:t>RandomOverSampler</a:t>
            </a:r>
            <a:r>
              <a:rPr lang="en-US" sz="1600" dirty="0"/>
              <a:t>, SMOTE, and SMOTENC are all over sampling methods that increase the number of values in the minority class to match the majority class</a:t>
            </a:r>
          </a:p>
          <a:p>
            <a:r>
              <a:rPr lang="en-US" sz="1600" dirty="0" err="1"/>
              <a:t>RandomUnderSampler</a:t>
            </a:r>
            <a:r>
              <a:rPr lang="en-US" sz="1600" dirty="0"/>
              <a:t> decreases the number of values in the majority class to match the minority class.</a:t>
            </a:r>
          </a:p>
          <a:p>
            <a:pPr lvl="1"/>
            <a:endParaRPr lang="en-SG" sz="1600" dirty="0"/>
          </a:p>
        </p:txBody>
      </p:sp>
      <p:pic>
        <p:nvPicPr>
          <p:cNvPr id="7176" name="Picture 8">
            <a:extLst>
              <a:ext uri="{FF2B5EF4-FFF2-40B4-BE49-F238E27FC236}">
                <a16:creationId xmlns:a16="http://schemas.microsoft.com/office/drawing/2014/main" id="{C2490742-CB21-5DC0-AD32-C0A4A3AD58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66422" y="1622323"/>
            <a:ext cx="2700716" cy="5061646"/>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a:extLst>
              <a:ext uri="{FF2B5EF4-FFF2-40B4-BE49-F238E27FC236}">
                <a16:creationId xmlns:a16="http://schemas.microsoft.com/office/drawing/2014/main" id="{3FF85475-935B-F637-0064-7E96B3CD5EF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05664" y="4929160"/>
            <a:ext cx="2145721" cy="1658445"/>
          </a:xfrm>
          <a:prstGeom prst="rect">
            <a:avLst/>
          </a:prstGeom>
          <a:noFill/>
          <a:extLst>
            <a:ext uri="{909E8E84-426E-40DD-AFC4-6F175D3DCCD1}">
              <a14:hiddenFill xmlns:a14="http://schemas.microsoft.com/office/drawing/2010/main">
                <a:solidFill>
                  <a:srgbClr val="FFFFFF"/>
                </a:solidFill>
              </a14:hiddenFill>
            </a:ext>
          </a:extLst>
        </p:spPr>
      </p:pic>
      <p:sp>
        <p:nvSpPr>
          <p:cNvPr id="15" name="Content Placeholder 2">
            <a:extLst>
              <a:ext uri="{FF2B5EF4-FFF2-40B4-BE49-F238E27FC236}">
                <a16:creationId xmlns:a16="http://schemas.microsoft.com/office/drawing/2014/main" id="{1364AFDE-38FD-42DF-250C-B35BA06D95C3}"/>
              </a:ext>
            </a:extLst>
          </p:cNvPr>
          <p:cNvSpPr txBox="1">
            <a:spLocks/>
          </p:cNvSpPr>
          <p:nvPr/>
        </p:nvSpPr>
        <p:spPr>
          <a:xfrm>
            <a:off x="6209081" y="1622323"/>
            <a:ext cx="3057341" cy="446581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t>After comparing all 4 of these methods with the original data (no resampling) I conclude that </a:t>
            </a:r>
            <a:r>
              <a:rPr lang="en-US" sz="1600" b="1" dirty="0" err="1"/>
              <a:t>RandomOverSampler</a:t>
            </a:r>
            <a:r>
              <a:rPr lang="en-US" sz="1600" dirty="0"/>
              <a:t> is the best method since it has the </a:t>
            </a:r>
            <a:r>
              <a:rPr lang="en-US" sz="1600" u="sng" dirty="0"/>
              <a:t>highest median score</a:t>
            </a:r>
            <a:r>
              <a:rPr lang="en-US" sz="1600" dirty="0"/>
              <a:t> for both threshold optimized F1 Score and Average Precision Score.</a:t>
            </a:r>
          </a:p>
          <a:p>
            <a:pPr marL="0" indent="0">
              <a:buNone/>
            </a:pPr>
            <a:endParaRPr lang="en-US" sz="1600" dirty="0"/>
          </a:p>
          <a:p>
            <a:pPr marL="0" indent="0">
              <a:buNone/>
            </a:pPr>
            <a:r>
              <a:rPr lang="en-US" sz="1600" dirty="0"/>
              <a:t>For all the evaluation I used </a:t>
            </a:r>
            <a:r>
              <a:rPr lang="en-US" sz="1600" b="1" dirty="0"/>
              <a:t>Stratified </a:t>
            </a:r>
            <a:r>
              <a:rPr lang="en-US" sz="1600" b="1" dirty="0" err="1"/>
              <a:t>KFold</a:t>
            </a:r>
            <a:r>
              <a:rPr lang="en-US" sz="1600" b="1" dirty="0"/>
              <a:t> Cross Validation</a:t>
            </a:r>
            <a:r>
              <a:rPr lang="en-US" sz="1600" dirty="0"/>
              <a:t>. This </a:t>
            </a:r>
            <a:r>
              <a:rPr lang="en-US" sz="1600" u="sng" dirty="0"/>
              <a:t>prevents overfitting</a:t>
            </a:r>
            <a:r>
              <a:rPr lang="en-US" sz="1600" dirty="0"/>
              <a:t> of the model and ensures that the test set has the same distribution of target classes as the entire dataset</a:t>
            </a:r>
            <a:endParaRPr lang="en-US" sz="1200" dirty="0"/>
          </a:p>
          <a:p>
            <a:pPr lvl="1"/>
            <a:endParaRPr lang="en-SG" sz="1200" dirty="0"/>
          </a:p>
        </p:txBody>
      </p:sp>
    </p:spTree>
    <p:extLst>
      <p:ext uri="{BB962C8B-B14F-4D97-AF65-F5344CB8AC3E}">
        <p14:creationId xmlns:p14="http://schemas.microsoft.com/office/powerpoint/2010/main" val="18642734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5FBD0-02F9-9FC9-BD4D-DEF2857EAAE8}"/>
              </a:ext>
            </a:extLst>
          </p:cNvPr>
          <p:cNvSpPr>
            <a:spLocks noGrp="1"/>
          </p:cNvSpPr>
          <p:nvPr>
            <p:ph type="title"/>
          </p:nvPr>
        </p:nvSpPr>
        <p:spPr/>
        <p:txBody>
          <a:bodyPr/>
          <a:lstStyle/>
          <a:p>
            <a:r>
              <a:rPr lang="en-US" dirty="0"/>
              <a:t>Model Selection</a:t>
            </a:r>
            <a:endParaRPr lang="en-SG" dirty="0"/>
          </a:p>
        </p:txBody>
      </p:sp>
      <p:sp>
        <p:nvSpPr>
          <p:cNvPr id="3" name="Content Placeholder 2">
            <a:extLst>
              <a:ext uri="{FF2B5EF4-FFF2-40B4-BE49-F238E27FC236}">
                <a16:creationId xmlns:a16="http://schemas.microsoft.com/office/drawing/2014/main" id="{9A5D4A43-C969-02F0-12D4-D7700778E25B}"/>
              </a:ext>
            </a:extLst>
          </p:cNvPr>
          <p:cNvSpPr>
            <a:spLocks noGrp="1"/>
          </p:cNvSpPr>
          <p:nvPr>
            <p:ph sz="half" idx="1"/>
          </p:nvPr>
        </p:nvSpPr>
        <p:spPr>
          <a:xfrm>
            <a:off x="1616916" y="5195887"/>
            <a:ext cx="4925468" cy="1086925"/>
          </a:xfrm>
        </p:spPr>
        <p:txBody>
          <a:bodyPr>
            <a:normAutofit lnSpcReduction="10000"/>
          </a:bodyPr>
          <a:lstStyle/>
          <a:p>
            <a:r>
              <a:rPr lang="en-US" sz="1600" dirty="0"/>
              <a:t>All models perform better than </a:t>
            </a:r>
            <a:r>
              <a:rPr lang="en-US" sz="1600" dirty="0" err="1"/>
              <a:t>DummyClassifier</a:t>
            </a:r>
            <a:endParaRPr lang="en-US" sz="1600" dirty="0"/>
          </a:p>
          <a:p>
            <a:r>
              <a:rPr lang="en-US" sz="1600" dirty="0"/>
              <a:t>Best Performing Untuned Models: </a:t>
            </a:r>
            <a:r>
              <a:rPr lang="en-US" sz="1600" dirty="0" err="1"/>
              <a:t>LogisticRegression</a:t>
            </a:r>
            <a:r>
              <a:rPr lang="en-US" sz="1600" dirty="0"/>
              <a:t>, </a:t>
            </a:r>
            <a:r>
              <a:rPr lang="en-US" sz="1600" dirty="0" err="1"/>
              <a:t>LinearSVC</a:t>
            </a:r>
            <a:r>
              <a:rPr lang="en-US" sz="1600" dirty="0"/>
              <a:t>, </a:t>
            </a:r>
            <a:r>
              <a:rPr lang="en-US" sz="1600" dirty="0" err="1"/>
              <a:t>RandomForestClassifier</a:t>
            </a:r>
            <a:endParaRPr lang="en-US" sz="1200" dirty="0"/>
          </a:p>
          <a:p>
            <a:pPr lvl="1"/>
            <a:endParaRPr lang="en-SG" sz="1200" dirty="0"/>
          </a:p>
        </p:txBody>
      </p:sp>
      <p:pic>
        <p:nvPicPr>
          <p:cNvPr id="9218" name="Picture 2">
            <a:extLst>
              <a:ext uri="{FF2B5EF4-FFF2-40B4-BE49-F238E27FC236}">
                <a16:creationId xmlns:a16="http://schemas.microsoft.com/office/drawing/2014/main" id="{608DCB42-34D8-4CAC-84A7-3134B9656B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690688"/>
            <a:ext cx="5922092" cy="35052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25F1CB7D-8199-6E0F-08D0-D89E8DE01A57}"/>
              </a:ext>
            </a:extLst>
          </p:cNvPr>
          <p:cNvPicPr>
            <a:picLocks noChangeAspect="1"/>
          </p:cNvPicPr>
          <p:nvPr/>
        </p:nvPicPr>
        <p:blipFill>
          <a:blip r:embed="rId3"/>
          <a:stretch>
            <a:fillRect/>
          </a:stretch>
        </p:blipFill>
        <p:spPr>
          <a:xfrm>
            <a:off x="6867221" y="4215292"/>
            <a:ext cx="1981477" cy="2010056"/>
          </a:xfrm>
          <a:prstGeom prst="rect">
            <a:avLst/>
          </a:prstGeom>
        </p:spPr>
      </p:pic>
      <p:pic>
        <p:nvPicPr>
          <p:cNvPr id="9" name="Picture 8">
            <a:extLst>
              <a:ext uri="{FF2B5EF4-FFF2-40B4-BE49-F238E27FC236}">
                <a16:creationId xmlns:a16="http://schemas.microsoft.com/office/drawing/2014/main" id="{CA62D326-EDE0-B555-92AE-AE12CFBE8C89}"/>
              </a:ext>
            </a:extLst>
          </p:cNvPr>
          <p:cNvPicPr>
            <a:picLocks noChangeAspect="1"/>
          </p:cNvPicPr>
          <p:nvPr/>
        </p:nvPicPr>
        <p:blipFill>
          <a:blip r:embed="rId4"/>
          <a:stretch>
            <a:fillRect/>
          </a:stretch>
        </p:blipFill>
        <p:spPr>
          <a:xfrm>
            <a:off x="6867221" y="1824059"/>
            <a:ext cx="3837061" cy="2257862"/>
          </a:xfrm>
          <a:prstGeom prst="rect">
            <a:avLst/>
          </a:prstGeom>
        </p:spPr>
      </p:pic>
    </p:spTree>
    <p:extLst>
      <p:ext uri="{BB962C8B-B14F-4D97-AF65-F5344CB8AC3E}">
        <p14:creationId xmlns:p14="http://schemas.microsoft.com/office/powerpoint/2010/main" val="3575124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5FBD0-02F9-9FC9-BD4D-DEF2857EAAE8}"/>
              </a:ext>
            </a:extLst>
          </p:cNvPr>
          <p:cNvSpPr>
            <a:spLocks noGrp="1"/>
          </p:cNvSpPr>
          <p:nvPr>
            <p:ph type="title"/>
          </p:nvPr>
        </p:nvSpPr>
        <p:spPr/>
        <p:txBody>
          <a:bodyPr/>
          <a:lstStyle/>
          <a:p>
            <a:r>
              <a:rPr lang="en-US" dirty="0"/>
              <a:t>Model Improvement: Hyperparameter Tuning</a:t>
            </a:r>
            <a:endParaRPr lang="en-SG" dirty="0"/>
          </a:p>
        </p:txBody>
      </p:sp>
      <p:sp>
        <p:nvSpPr>
          <p:cNvPr id="3" name="Content Placeholder 2">
            <a:extLst>
              <a:ext uri="{FF2B5EF4-FFF2-40B4-BE49-F238E27FC236}">
                <a16:creationId xmlns:a16="http://schemas.microsoft.com/office/drawing/2014/main" id="{9A5D4A43-C969-02F0-12D4-D7700778E25B}"/>
              </a:ext>
            </a:extLst>
          </p:cNvPr>
          <p:cNvSpPr>
            <a:spLocks noGrp="1"/>
          </p:cNvSpPr>
          <p:nvPr>
            <p:ph sz="half" idx="1"/>
          </p:nvPr>
        </p:nvSpPr>
        <p:spPr/>
        <p:txBody>
          <a:bodyPr>
            <a:normAutofit/>
          </a:bodyPr>
          <a:lstStyle/>
          <a:p>
            <a:pPr marL="0" indent="0">
              <a:buNone/>
            </a:pPr>
            <a:r>
              <a:rPr lang="en-US" sz="1400" b="1" dirty="0" err="1"/>
              <a:t>GridSearchCV</a:t>
            </a:r>
            <a:endParaRPr lang="en-US" sz="1400" b="1" dirty="0"/>
          </a:p>
          <a:p>
            <a:r>
              <a:rPr lang="en-US" sz="1400" dirty="0" err="1"/>
              <a:t>GridSearchCV</a:t>
            </a:r>
            <a:r>
              <a:rPr lang="en-US" sz="1400" dirty="0"/>
              <a:t> exhaustively searches all the specified hyperparameter combinations within a predefined grid. </a:t>
            </a:r>
          </a:p>
          <a:p>
            <a:r>
              <a:rPr lang="en-US" sz="1400" dirty="0"/>
              <a:t>It evaluates and compares the performance of each combination and returns the best set of hyperparameters that maximize a chosen performance metric.</a:t>
            </a:r>
          </a:p>
          <a:p>
            <a:r>
              <a:rPr lang="en-US" sz="1400" dirty="0"/>
              <a:t>It is a brute-force approach that considers all possible hyperparameter combinations within the defined grid, which can be computationally expensive for large search spaces.</a:t>
            </a:r>
          </a:p>
          <a:p>
            <a:endParaRPr lang="en-SG" sz="1400" dirty="0"/>
          </a:p>
        </p:txBody>
      </p:sp>
      <p:sp>
        <p:nvSpPr>
          <p:cNvPr id="4" name="Content Placeholder 3">
            <a:extLst>
              <a:ext uri="{FF2B5EF4-FFF2-40B4-BE49-F238E27FC236}">
                <a16:creationId xmlns:a16="http://schemas.microsoft.com/office/drawing/2014/main" id="{44712888-63E9-EB34-1884-20B5C6109A84}"/>
              </a:ext>
            </a:extLst>
          </p:cNvPr>
          <p:cNvSpPr>
            <a:spLocks noGrp="1"/>
          </p:cNvSpPr>
          <p:nvPr>
            <p:ph sz="half" idx="2"/>
          </p:nvPr>
        </p:nvSpPr>
        <p:spPr/>
        <p:txBody>
          <a:bodyPr>
            <a:normAutofit/>
          </a:bodyPr>
          <a:lstStyle/>
          <a:p>
            <a:pPr marL="0" indent="0">
              <a:buNone/>
            </a:pPr>
            <a:r>
              <a:rPr lang="en-US" sz="1400" b="1" dirty="0"/>
              <a:t>Artificial Bee Colony Algorithm</a:t>
            </a:r>
          </a:p>
          <a:p>
            <a:r>
              <a:rPr lang="en-US" sz="1400" dirty="0"/>
              <a:t>ABC is a nature-inspired metaheuristic optimization algorithm that mimics the foraging behavior of honeybees.</a:t>
            </a:r>
          </a:p>
          <a:p>
            <a:r>
              <a:rPr lang="en-US" sz="1400" dirty="0"/>
              <a:t>In ABC hyperparameter tuning, the algorithm creates a population of candidate solutions (representing different sets of hyperparameters) and iteratively improves them.</a:t>
            </a:r>
          </a:p>
          <a:p>
            <a:r>
              <a:rPr lang="en-US" sz="1400" dirty="0"/>
              <a:t>The algorithm uses the concept of employed bees, onlooker bees, and scout bees to explore and exploit the search space of hyperparameters.</a:t>
            </a:r>
          </a:p>
          <a:p>
            <a:r>
              <a:rPr lang="en-US" sz="1400" dirty="0"/>
              <a:t>Does not rely on exhaustive grid search but rather employs a population-based search and exploration strategy to find good hyperparameter configurations.</a:t>
            </a:r>
          </a:p>
        </p:txBody>
      </p:sp>
    </p:spTree>
    <p:extLst>
      <p:ext uri="{BB962C8B-B14F-4D97-AF65-F5344CB8AC3E}">
        <p14:creationId xmlns:p14="http://schemas.microsoft.com/office/powerpoint/2010/main" val="1877475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5FBD0-02F9-9FC9-BD4D-DEF2857EAAE8}"/>
              </a:ext>
            </a:extLst>
          </p:cNvPr>
          <p:cNvSpPr>
            <a:spLocks noGrp="1"/>
          </p:cNvSpPr>
          <p:nvPr>
            <p:ph type="title"/>
          </p:nvPr>
        </p:nvSpPr>
        <p:spPr/>
        <p:txBody>
          <a:bodyPr/>
          <a:lstStyle/>
          <a:p>
            <a:r>
              <a:rPr lang="en-US" dirty="0"/>
              <a:t>Model Improvement: Hyperparameter Tuning</a:t>
            </a:r>
            <a:endParaRPr lang="en-SG" dirty="0"/>
          </a:p>
        </p:txBody>
      </p:sp>
      <p:sp>
        <p:nvSpPr>
          <p:cNvPr id="3" name="Content Placeholder 2">
            <a:extLst>
              <a:ext uri="{FF2B5EF4-FFF2-40B4-BE49-F238E27FC236}">
                <a16:creationId xmlns:a16="http://schemas.microsoft.com/office/drawing/2014/main" id="{9A5D4A43-C969-02F0-12D4-D7700778E25B}"/>
              </a:ext>
            </a:extLst>
          </p:cNvPr>
          <p:cNvSpPr>
            <a:spLocks noGrp="1"/>
          </p:cNvSpPr>
          <p:nvPr>
            <p:ph sz="half" idx="1"/>
          </p:nvPr>
        </p:nvSpPr>
        <p:spPr/>
        <p:txBody>
          <a:bodyPr>
            <a:normAutofit/>
          </a:bodyPr>
          <a:lstStyle/>
          <a:p>
            <a:pPr marL="0" indent="0">
              <a:buNone/>
            </a:pPr>
            <a:r>
              <a:rPr lang="en-US" sz="1400" b="1" dirty="0" err="1"/>
              <a:t>GridSearchCV</a:t>
            </a:r>
            <a:endParaRPr lang="en-US" sz="1400" b="1" dirty="0"/>
          </a:p>
          <a:p>
            <a:endParaRPr lang="en-SG" sz="1400" dirty="0"/>
          </a:p>
        </p:txBody>
      </p:sp>
      <p:sp>
        <p:nvSpPr>
          <p:cNvPr id="4" name="Content Placeholder 3">
            <a:extLst>
              <a:ext uri="{FF2B5EF4-FFF2-40B4-BE49-F238E27FC236}">
                <a16:creationId xmlns:a16="http://schemas.microsoft.com/office/drawing/2014/main" id="{44712888-63E9-EB34-1884-20B5C6109A84}"/>
              </a:ext>
            </a:extLst>
          </p:cNvPr>
          <p:cNvSpPr>
            <a:spLocks noGrp="1"/>
          </p:cNvSpPr>
          <p:nvPr>
            <p:ph sz="half" idx="2"/>
          </p:nvPr>
        </p:nvSpPr>
        <p:spPr/>
        <p:txBody>
          <a:bodyPr>
            <a:normAutofit/>
          </a:bodyPr>
          <a:lstStyle/>
          <a:p>
            <a:pPr marL="0" indent="0">
              <a:buNone/>
            </a:pPr>
            <a:r>
              <a:rPr lang="en-US" sz="1400" b="1" dirty="0"/>
              <a:t>Artificial Bee Colony Algorithm</a:t>
            </a:r>
          </a:p>
        </p:txBody>
      </p:sp>
      <p:pic>
        <p:nvPicPr>
          <p:cNvPr id="6" name="Picture 5">
            <a:extLst>
              <a:ext uri="{FF2B5EF4-FFF2-40B4-BE49-F238E27FC236}">
                <a16:creationId xmlns:a16="http://schemas.microsoft.com/office/drawing/2014/main" id="{E27D9756-89E1-A8C8-8A2E-4A4FFF301940}"/>
              </a:ext>
            </a:extLst>
          </p:cNvPr>
          <p:cNvPicPr>
            <a:picLocks noChangeAspect="1"/>
          </p:cNvPicPr>
          <p:nvPr/>
        </p:nvPicPr>
        <p:blipFill>
          <a:blip r:embed="rId2"/>
          <a:stretch>
            <a:fillRect/>
          </a:stretch>
        </p:blipFill>
        <p:spPr>
          <a:xfrm>
            <a:off x="6172199" y="2123766"/>
            <a:ext cx="5101467" cy="4507460"/>
          </a:xfrm>
          <a:prstGeom prst="rect">
            <a:avLst/>
          </a:prstGeom>
        </p:spPr>
      </p:pic>
      <p:pic>
        <p:nvPicPr>
          <p:cNvPr id="8" name="Picture 7">
            <a:extLst>
              <a:ext uri="{FF2B5EF4-FFF2-40B4-BE49-F238E27FC236}">
                <a16:creationId xmlns:a16="http://schemas.microsoft.com/office/drawing/2014/main" id="{7DF5BD19-A78C-096B-1920-0DDE8E4615FA}"/>
              </a:ext>
            </a:extLst>
          </p:cNvPr>
          <p:cNvPicPr>
            <a:picLocks noChangeAspect="1"/>
          </p:cNvPicPr>
          <p:nvPr/>
        </p:nvPicPr>
        <p:blipFill>
          <a:blip r:embed="rId3"/>
          <a:stretch>
            <a:fillRect/>
          </a:stretch>
        </p:blipFill>
        <p:spPr>
          <a:xfrm>
            <a:off x="838199" y="2123766"/>
            <a:ext cx="5101468" cy="2591130"/>
          </a:xfrm>
          <a:prstGeom prst="rect">
            <a:avLst/>
          </a:prstGeom>
        </p:spPr>
      </p:pic>
    </p:spTree>
    <p:extLst>
      <p:ext uri="{BB962C8B-B14F-4D97-AF65-F5344CB8AC3E}">
        <p14:creationId xmlns:p14="http://schemas.microsoft.com/office/powerpoint/2010/main" val="34313461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5FBD0-02F9-9FC9-BD4D-DEF2857EAAE8}"/>
              </a:ext>
            </a:extLst>
          </p:cNvPr>
          <p:cNvSpPr>
            <a:spLocks noGrp="1"/>
          </p:cNvSpPr>
          <p:nvPr>
            <p:ph type="title"/>
          </p:nvPr>
        </p:nvSpPr>
        <p:spPr/>
        <p:txBody>
          <a:bodyPr/>
          <a:lstStyle/>
          <a:p>
            <a:r>
              <a:rPr lang="en-US" dirty="0"/>
              <a:t>Model Improvement</a:t>
            </a:r>
            <a:endParaRPr lang="en-SG" dirty="0"/>
          </a:p>
        </p:txBody>
      </p:sp>
      <p:sp>
        <p:nvSpPr>
          <p:cNvPr id="4" name="Content Placeholder 3">
            <a:extLst>
              <a:ext uri="{FF2B5EF4-FFF2-40B4-BE49-F238E27FC236}">
                <a16:creationId xmlns:a16="http://schemas.microsoft.com/office/drawing/2014/main" id="{44712888-63E9-EB34-1884-20B5C6109A84}"/>
              </a:ext>
            </a:extLst>
          </p:cNvPr>
          <p:cNvSpPr>
            <a:spLocks noGrp="1"/>
          </p:cNvSpPr>
          <p:nvPr>
            <p:ph sz="half" idx="2"/>
          </p:nvPr>
        </p:nvSpPr>
        <p:spPr>
          <a:xfrm>
            <a:off x="6389001" y="4033397"/>
            <a:ext cx="4876308" cy="2190422"/>
          </a:xfrm>
        </p:spPr>
        <p:txBody>
          <a:bodyPr>
            <a:normAutofit fontScale="92500" lnSpcReduction="10000"/>
          </a:bodyPr>
          <a:lstStyle/>
          <a:p>
            <a:r>
              <a:rPr lang="en-US" sz="1600" dirty="0"/>
              <a:t>Logistic Regression is the best performing overall model based on optimized F1 Score</a:t>
            </a:r>
          </a:p>
          <a:p>
            <a:r>
              <a:rPr lang="en-US" sz="1600" dirty="0"/>
              <a:t>Hyperparameter Tuning only improved the score of </a:t>
            </a:r>
            <a:r>
              <a:rPr lang="en-US" sz="1600" dirty="0" err="1"/>
              <a:t>RandomForestClassifier</a:t>
            </a:r>
            <a:endParaRPr lang="en-US" sz="1600" dirty="0"/>
          </a:p>
          <a:p>
            <a:r>
              <a:rPr lang="en-US" sz="1600" dirty="0"/>
              <a:t>The optimized F1 Scores for the models tunes with </a:t>
            </a:r>
            <a:r>
              <a:rPr lang="en-US" sz="1600" dirty="0" err="1"/>
              <a:t>GridSearchCV</a:t>
            </a:r>
            <a:r>
              <a:rPr lang="en-US" sz="1600" dirty="0"/>
              <a:t> are generally higher than those from </a:t>
            </a:r>
            <a:r>
              <a:rPr lang="en-US" sz="1600" dirty="0" err="1"/>
              <a:t>ArtificialBeeColony</a:t>
            </a:r>
            <a:endParaRPr lang="en-US" sz="1600" dirty="0"/>
          </a:p>
          <a:p>
            <a:r>
              <a:rPr lang="en-US" sz="1600" dirty="0"/>
              <a:t>Best model according to cross-validation: </a:t>
            </a:r>
            <a:r>
              <a:rPr lang="en-US" sz="1600" dirty="0" err="1"/>
              <a:t>LogisticRegression</a:t>
            </a:r>
            <a:r>
              <a:rPr lang="en-US" sz="1600" dirty="0"/>
              <a:t> Tuned using </a:t>
            </a:r>
            <a:r>
              <a:rPr lang="en-US" sz="1600" dirty="0" err="1"/>
              <a:t>GridSearchCV</a:t>
            </a:r>
            <a:endParaRPr lang="en-US" sz="1600" dirty="0"/>
          </a:p>
          <a:p>
            <a:endParaRPr lang="en-SG" sz="1600" dirty="0"/>
          </a:p>
        </p:txBody>
      </p:sp>
      <p:pic>
        <p:nvPicPr>
          <p:cNvPr id="11266" name="Picture 2">
            <a:extLst>
              <a:ext uri="{FF2B5EF4-FFF2-40B4-BE49-F238E27FC236}">
                <a16:creationId xmlns:a16="http://schemas.microsoft.com/office/drawing/2014/main" id="{251572BC-9311-A8F0-4DC9-3AE74EA945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1" y="1401097"/>
            <a:ext cx="5379720" cy="5205015"/>
          </a:xfrm>
          <a:prstGeom prst="rect">
            <a:avLst/>
          </a:prstGeom>
          <a:noFill/>
          <a:extLst>
            <a:ext uri="{909E8E84-426E-40DD-AFC4-6F175D3DCCD1}">
              <a14:hiddenFill xmlns:a14="http://schemas.microsoft.com/office/drawing/2010/main">
                <a:solidFill>
                  <a:srgbClr val="FFFFFF"/>
                </a:solidFill>
              </a14:hiddenFill>
            </a:ext>
          </a:extLst>
        </p:spPr>
      </p:pic>
      <p:grpSp>
        <p:nvGrpSpPr>
          <p:cNvPr id="14" name="Group 13">
            <a:extLst>
              <a:ext uri="{FF2B5EF4-FFF2-40B4-BE49-F238E27FC236}">
                <a16:creationId xmlns:a16="http://schemas.microsoft.com/office/drawing/2014/main" id="{A076B50C-1710-0725-4AFC-ABD572C29FE8}"/>
              </a:ext>
            </a:extLst>
          </p:cNvPr>
          <p:cNvGrpSpPr/>
          <p:nvPr/>
        </p:nvGrpSpPr>
        <p:grpSpPr>
          <a:xfrm>
            <a:off x="6389001" y="1156243"/>
            <a:ext cx="3680746" cy="2854135"/>
            <a:chOff x="2071126" y="1785708"/>
            <a:chExt cx="4049986" cy="3286584"/>
          </a:xfrm>
        </p:grpSpPr>
        <p:pic>
          <p:nvPicPr>
            <p:cNvPr id="6" name="Picture 5">
              <a:extLst>
                <a:ext uri="{FF2B5EF4-FFF2-40B4-BE49-F238E27FC236}">
                  <a16:creationId xmlns:a16="http://schemas.microsoft.com/office/drawing/2014/main" id="{0F9CBD2B-1272-5441-A9C6-333A997EAAC4}"/>
                </a:ext>
              </a:extLst>
            </p:cNvPr>
            <p:cNvPicPr>
              <a:picLocks noChangeAspect="1"/>
            </p:cNvPicPr>
            <p:nvPr/>
          </p:nvPicPr>
          <p:blipFill rotWithShape="1">
            <a:blip r:embed="rId3"/>
            <a:srcRect r="65341"/>
            <a:stretch/>
          </p:blipFill>
          <p:spPr>
            <a:xfrm>
              <a:off x="2071126" y="1785708"/>
              <a:ext cx="2789942" cy="3286584"/>
            </a:xfrm>
            <a:prstGeom prst="rect">
              <a:avLst/>
            </a:prstGeom>
          </p:spPr>
        </p:pic>
        <p:grpSp>
          <p:nvGrpSpPr>
            <p:cNvPr id="13" name="Group 12">
              <a:extLst>
                <a:ext uri="{FF2B5EF4-FFF2-40B4-BE49-F238E27FC236}">
                  <a16:creationId xmlns:a16="http://schemas.microsoft.com/office/drawing/2014/main" id="{0A35AC9D-E809-A4D2-B996-2FE32571AD7F}"/>
                </a:ext>
              </a:extLst>
            </p:cNvPr>
            <p:cNvGrpSpPr/>
            <p:nvPr/>
          </p:nvGrpSpPr>
          <p:grpSpPr>
            <a:xfrm>
              <a:off x="4857362" y="1785708"/>
              <a:ext cx="1263750" cy="3286584"/>
              <a:chOff x="4857362" y="1785708"/>
              <a:chExt cx="1263750" cy="3286584"/>
            </a:xfrm>
          </p:grpSpPr>
          <p:pic>
            <p:nvPicPr>
              <p:cNvPr id="8" name="Picture 7">
                <a:extLst>
                  <a:ext uri="{FF2B5EF4-FFF2-40B4-BE49-F238E27FC236}">
                    <a16:creationId xmlns:a16="http://schemas.microsoft.com/office/drawing/2014/main" id="{727F74C2-E30B-D6A1-2170-FA2176CF8CD8}"/>
                  </a:ext>
                </a:extLst>
              </p:cNvPr>
              <p:cNvPicPr>
                <a:picLocks noChangeAspect="1"/>
              </p:cNvPicPr>
              <p:nvPr/>
            </p:nvPicPr>
            <p:blipFill rotWithShape="1">
              <a:blip r:embed="rId3"/>
              <a:srcRect l="77385" r="15094"/>
              <a:stretch/>
            </p:blipFill>
            <p:spPr>
              <a:xfrm>
                <a:off x="4857362" y="1785708"/>
                <a:ext cx="605441" cy="3286584"/>
              </a:xfrm>
              <a:prstGeom prst="rect">
                <a:avLst/>
              </a:prstGeom>
            </p:spPr>
          </p:pic>
          <p:pic>
            <p:nvPicPr>
              <p:cNvPr id="12" name="Picture 11">
                <a:extLst>
                  <a:ext uri="{FF2B5EF4-FFF2-40B4-BE49-F238E27FC236}">
                    <a16:creationId xmlns:a16="http://schemas.microsoft.com/office/drawing/2014/main" id="{76119AC9-DA58-BF93-7CB7-E5F521751236}"/>
                  </a:ext>
                </a:extLst>
              </p:cNvPr>
              <p:cNvPicPr>
                <a:picLocks noChangeAspect="1"/>
              </p:cNvPicPr>
              <p:nvPr/>
            </p:nvPicPr>
            <p:blipFill rotWithShape="1">
              <a:blip r:embed="rId3"/>
              <a:srcRect l="91822"/>
              <a:stretch/>
            </p:blipFill>
            <p:spPr>
              <a:xfrm>
                <a:off x="5462803" y="1785708"/>
                <a:ext cx="658309" cy="3286584"/>
              </a:xfrm>
              <a:prstGeom prst="rect">
                <a:avLst/>
              </a:prstGeom>
            </p:spPr>
          </p:pic>
        </p:grpSp>
      </p:grpSp>
      <p:sp>
        <p:nvSpPr>
          <p:cNvPr id="15" name="TextBox 14">
            <a:extLst>
              <a:ext uri="{FF2B5EF4-FFF2-40B4-BE49-F238E27FC236}">
                <a16:creationId xmlns:a16="http://schemas.microsoft.com/office/drawing/2014/main" id="{788A002C-DDC8-83E2-BA04-848C147B5395}"/>
              </a:ext>
            </a:extLst>
          </p:cNvPr>
          <p:cNvSpPr txBox="1"/>
          <p:nvPr/>
        </p:nvSpPr>
        <p:spPr>
          <a:xfrm>
            <a:off x="6389001" y="783908"/>
            <a:ext cx="3303638" cy="369332"/>
          </a:xfrm>
          <a:prstGeom prst="rect">
            <a:avLst/>
          </a:prstGeom>
          <a:noFill/>
        </p:spPr>
        <p:txBody>
          <a:bodyPr wrap="square" rtlCol="0">
            <a:spAutoFit/>
          </a:bodyPr>
          <a:lstStyle/>
          <a:p>
            <a:r>
              <a:rPr lang="en-US" dirty="0"/>
              <a:t>Cross Validation Results:</a:t>
            </a:r>
            <a:endParaRPr lang="en-SG" dirty="0"/>
          </a:p>
        </p:txBody>
      </p:sp>
    </p:spTree>
    <p:extLst>
      <p:ext uri="{BB962C8B-B14F-4D97-AF65-F5344CB8AC3E}">
        <p14:creationId xmlns:p14="http://schemas.microsoft.com/office/powerpoint/2010/main" val="15997004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EAC65-2E3A-3593-9DB9-C3A51EFA48BF}"/>
              </a:ext>
            </a:extLst>
          </p:cNvPr>
          <p:cNvSpPr>
            <a:spLocks noGrp="1"/>
          </p:cNvSpPr>
          <p:nvPr>
            <p:ph type="ctrTitle"/>
          </p:nvPr>
        </p:nvSpPr>
        <p:spPr/>
        <p:txBody>
          <a:bodyPr/>
          <a:lstStyle/>
          <a:p>
            <a:r>
              <a:rPr lang="en-US" dirty="0"/>
              <a:t>AIML CA1: Part B Classification</a:t>
            </a:r>
            <a:endParaRPr lang="en-SG" dirty="0"/>
          </a:p>
        </p:txBody>
      </p:sp>
      <p:sp>
        <p:nvSpPr>
          <p:cNvPr id="3" name="Subtitle 2">
            <a:extLst>
              <a:ext uri="{FF2B5EF4-FFF2-40B4-BE49-F238E27FC236}">
                <a16:creationId xmlns:a16="http://schemas.microsoft.com/office/drawing/2014/main" id="{8C96E6E4-4A51-871F-E52C-67411154C520}"/>
              </a:ext>
            </a:extLst>
          </p:cNvPr>
          <p:cNvSpPr>
            <a:spLocks noGrp="1"/>
          </p:cNvSpPr>
          <p:nvPr>
            <p:ph type="subTitle" idx="1"/>
          </p:nvPr>
        </p:nvSpPr>
        <p:spPr/>
        <p:txBody>
          <a:bodyPr/>
          <a:lstStyle/>
          <a:p>
            <a:r>
              <a:rPr lang="en-US" dirty="0"/>
              <a:t>Name: Glenn Wu</a:t>
            </a:r>
          </a:p>
          <a:p>
            <a:r>
              <a:rPr lang="en-US" dirty="0"/>
              <a:t>Admin No.: 2214395</a:t>
            </a:r>
          </a:p>
          <a:p>
            <a:r>
              <a:rPr lang="en-US" dirty="0"/>
              <a:t>Class: DAAA/FT/2A/01</a:t>
            </a:r>
            <a:endParaRPr lang="en-SG" dirty="0"/>
          </a:p>
        </p:txBody>
      </p:sp>
    </p:spTree>
    <p:extLst>
      <p:ext uri="{BB962C8B-B14F-4D97-AF65-F5344CB8AC3E}">
        <p14:creationId xmlns:p14="http://schemas.microsoft.com/office/powerpoint/2010/main" val="7079594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5FBD0-02F9-9FC9-BD4D-DEF2857EAAE8}"/>
              </a:ext>
            </a:extLst>
          </p:cNvPr>
          <p:cNvSpPr>
            <a:spLocks noGrp="1"/>
          </p:cNvSpPr>
          <p:nvPr>
            <p:ph type="title"/>
          </p:nvPr>
        </p:nvSpPr>
        <p:spPr/>
        <p:txBody>
          <a:bodyPr/>
          <a:lstStyle/>
          <a:p>
            <a:r>
              <a:rPr lang="en-US" dirty="0"/>
              <a:t>Data Exploration</a:t>
            </a:r>
            <a:endParaRPr lang="en-SG" dirty="0"/>
          </a:p>
        </p:txBody>
      </p:sp>
      <p:sp>
        <p:nvSpPr>
          <p:cNvPr id="3" name="Content Placeholder 2">
            <a:extLst>
              <a:ext uri="{FF2B5EF4-FFF2-40B4-BE49-F238E27FC236}">
                <a16:creationId xmlns:a16="http://schemas.microsoft.com/office/drawing/2014/main" id="{9A5D4A43-C969-02F0-12D4-D7700778E25B}"/>
              </a:ext>
            </a:extLst>
          </p:cNvPr>
          <p:cNvSpPr>
            <a:spLocks noGrp="1"/>
          </p:cNvSpPr>
          <p:nvPr>
            <p:ph sz="half" idx="1"/>
          </p:nvPr>
        </p:nvSpPr>
        <p:spPr>
          <a:xfrm>
            <a:off x="4291543" y="1690688"/>
            <a:ext cx="1957759" cy="2194489"/>
          </a:xfrm>
        </p:spPr>
        <p:txBody>
          <a:bodyPr>
            <a:normAutofit/>
          </a:bodyPr>
          <a:lstStyle/>
          <a:p>
            <a:r>
              <a:rPr lang="en-US" sz="1600" dirty="0"/>
              <a:t>The customer ID column is unique to each customer and independent from the rest of the columns, thus I will remove it. </a:t>
            </a:r>
            <a:endParaRPr lang="en-SG" sz="1600" dirty="0"/>
          </a:p>
        </p:txBody>
      </p:sp>
      <p:pic>
        <p:nvPicPr>
          <p:cNvPr id="4098" name="Picture 2">
            <a:extLst>
              <a:ext uri="{FF2B5EF4-FFF2-40B4-BE49-F238E27FC236}">
                <a16:creationId xmlns:a16="http://schemas.microsoft.com/office/drawing/2014/main" id="{9F0E33C6-2B50-AB41-0FEE-9B3338F13F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542899"/>
            <a:ext cx="3453343" cy="2254006"/>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D37C379A-A2B9-5F20-A867-0727B5B443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775" y="3796905"/>
            <a:ext cx="3286767" cy="2565927"/>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498B5D5F-A302-D5C3-5D42-093734E350BE}"/>
              </a:ext>
            </a:extLst>
          </p:cNvPr>
          <p:cNvSpPr txBox="1">
            <a:spLocks/>
          </p:cNvSpPr>
          <p:nvPr/>
        </p:nvSpPr>
        <p:spPr>
          <a:xfrm>
            <a:off x="4291542" y="3885177"/>
            <a:ext cx="1957759" cy="219448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House Area and Price have a positive correlation as seen in the Correlation Matrix and in the Scatterplot</a:t>
            </a:r>
            <a:endParaRPr lang="en-SG" sz="1600" dirty="0"/>
          </a:p>
        </p:txBody>
      </p:sp>
      <p:pic>
        <p:nvPicPr>
          <p:cNvPr id="7" name="Picture 6">
            <a:extLst>
              <a:ext uri="{FF2B5EF4-FFF2-40B4-BE49-F238E27FC236}">
                <a16:creationId xmlns:a16="http://schemas.microsoft.com/office/drawing/2014/main" id="{2CB32955-C70D-CFED-A1C1-0A6CC5FCCB0D}"/>
              </a:ext>
            </a:extLst>
          </p:cNvPr>
          <p:cNvPicPr>
            <a:picLocks noChangeAspect="1"/>
          </p:cNvPicPr>
          <p:nvPr/>
        </p:nvPicPr>
        <p:blipFill>
          <a:blip r:embed="rId4"/>
          <a:stretch>
            <a:fillRect/>
          </a:stretch>
        </p:blipFill>
        <p:spPr>
          <a:xfrm>
            <a:off x="6405134" y="1723787"/>
            <a:ext cx="4372585" cy="1705213"/>
          </a:xfrm>
          <a:prstGeom prst="rect">
            <a:avLst/>
          </a:prstGeom>
        </p:spPr>
      </p:pic>
      <p:pic>
        <p:nvPicPr>
          <p:cNvPr id="9" name="Picture 8">
            <a:extLst>
              <a:ext uri="{FF2B5EF4-FFF2-40B4-BE49-F238E27FC236}">
                <a16:creationId xmlns:a16="http://schemas.microsoft.com/office/drawing/2014/main" id="{5BCA71C0-A8D1-C1FE-2934-4BD4BA530A2C}"/>
              </a:ext>
            </a:extLst>
          </p:cNvPr>
          <p:cNvPicPr>
            <a:picLocks noChangeAspect="1"/>
          </p:cNvPicPr>
          <p:nvPr/>
        </p:nvPicPr>
        <p:blipFill>
          <a:blip r:embed="rId5"/>
          <a:stretch>
            <a:fillRect/>
          </a:stretch>
        </p:blipFill>
        <p:spPr>
          <a:xfrm>
            <a:off x="6405134" y="3676076"/>
            <a:ext cx="5058481" cy="1181265"/>
          </a:xfrm>
          <a:prstGeom prst="rect">
            <a:avLst/>
          </a:prstGeom>
        </p:spPr>
      </p:pic>
      <p:sp>
        <p:nvSpPr>
          <p:cNvPr id="10" name="TextBox 9">
            <a:extLst>
              <a:ext uri="{FF2B5EF4-FFF2-40B4-BE49-F238E27FC236}">
                <a16:creationId xmlns:a16="http://schemas.microsoft.com/office/drawing/2014/main" id="{47703BB0-B143-2B76-2632-7085493CEAC4}"/>
              </a:ext>
            </a:extLst>
          </p:cNvPr>
          <p:cNvSpPr txBox="1"/>
          <p:nvPr/>
        </p:nvSpPr>
        <p:spPr>
          <a:xfrm>
            <a:off x="6405134" y="4982421"/>
            <a:ext cx="4253435" cy="1200329"/>
          </a:xfrm>
          <a:prstGeom prst="rect">
            <a:avLst/>
          </a:prstGeom>
          <a:noFill/>
        </p:spPr>
        <p:txBody>
          <a:bodyPr wrap="square" rtlCol="0">
            <a:spAutoFit/>
          </a:bodyPr>
          <a:lstStyle/>
          <a:p>
            <a:r>
              <a:rPr lang="en-US" dirty="0"/>
              <a:t>There is some correlation between all the features and the target “Price ($)” which we are trying to predict, as a regression problem.</a:t>
            </a:r>
            <a:endParaRPr lang="en-SG" dirty="0"/>
          </a:p>
        </p:txBody>
      </p:sp>
    </p:spTree>
    <p:extLst>
      <p:ext uri="{BB962C8B-B14F-4D97-AF65-F5344CB8AC3E}">
        <p14:creationId xmlns:p14="http://schemas.microsoft.com/office/powerpoint/2010/main" val="28149104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16494-94A9-52B4-0C3D-476FF109B412}"/>
              </a:ext>
            </a:extLst>
          </p:cNvPr>
          <p:cNvSpPr>
            <a:spLocks noGrp="1"/>
          </p:cNvSpPr>
          <p:nvPr>
            <p:ph type="title"/>
          </p:nvPr>
        </p:nvSpPr>
        <p:spPr/>
        <p:txBody>
          <a:bodyPr/>
          <a:lstStyle/>
          <a:p>
            <a:r>
              <a:rPr lang="en-US" dirty="0"/>
              <a:t>Data Exploration</a:t>
            </a:r>
            <a:endParaRPr lang="en-SG" dirty="0"/>
          </a:p>
        </p:txBody>
      </p:sp>
      <p:pic>
        <p:nvPicPr>
          <p:cNvPr id="1030" name="Picture 6">
            <a:extLst>
              <a:ext uri="{FF2B5EF4-FFF2-40B4-BE49-F238E27FC236}">
                <a16:creationId xmlns:a16="http://schemas.microsoft.com/office/drawing/2014/main" id="{CD71D948-22DA-366E-5E42-66FE29C4927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60107"/>
          <a:stretch/>
        </p:blipFill>
        <p:spPr bwMode="auto">
          <a:xfrm>
            <a:off x="8280054" y="3106380"/>
            <a:ext cx="2928864" cy="322938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7984DF8-D565-A0CB-0F00-FC8B20D025F2}"/>
              </a:ext>
            </a:extLst>
          </p:cNvPr>
          <p:cNvSpPr txBox="1"/>
          <p:nvPr/>
        </p:nvSpPr>
        <p:spPr>
          <a:xfrm>
            <a:off x="573078" y="4751011"/>
            <a:ext cx="4707463" cy="584775"/>
          </a:xfrm>
          <a:prstGeom prst="rect">
            <a:avLst/>
          </a:prstGeom>
          <a:noFill/>
        </p:spPr>
        <p:txBody>
          <a:bodyPr wrap="square">
            <a:spAutoFit/>
          </a:bodyPr>
          <a:lstStyle/>
          <a:p>
            <a:pPr marL="285750" indent="-285750">
              <a:buFont typeface="Arial" panose="020B0604020202020204" pitchFamily="34" charset="0"/>
              <a:buChar char="•"/>
            </a:pPr>
            <a:r>
              <a:rPr lang="en-US" sz="1600" b="0" i="0" dirty="0">
                <a:solidFill>
                  <a:srgbClr val="353535"/>
                </a:solidFill>
                <a:effectLst/>
                <a:latin typeface="Arial" panose="020B0604020202020204" pitchFamily="34" charset="0"/>
              </a:rPr>
              <a:t>Both House Area and Price are skewed to the right, with high skews. (&gt;0.5)</a:t>
            </a:r>
          </a:p>
        </p:txBody>
      </p:sp>
      <p:pic>
        <p:nvPicPr>
          <p:cNvPr id="1032" name="Picture 8">
            <a:extLst>
              <a:ext uri="{FF2B5EF4-FFF2-40B4-BE49-F238E27FC236}">
                <a16:creationId xmlns:a16="http://schemas.microsoft.com/office/drawing/2014/main" id="{2A91C46D-E2CC-CD18-737E-6DC75E4180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503322"/>
            <a:ext cx="3286885" cy="3241549"/>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6">
            <a:extLst>
              <a:ext uri="{FF2B5EF4-FFF2-40B4-BE49-F238E27FC236}">
                <a16:creationId xmlns:a16="http://schemas.microsoft.com/office/drawing/2014/main" id="{B154714E-EBBF-24D0-2691-4ED9C45BF1B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9996" b="309"/>
          <a:stretch/>
        </p:blipFill>
        <p:spPr bwMode="auto">
          <a:xfrm>
            <a:off x="5351190" y="1503322"/>
            <a:ext cx="2928864" cy="4832438"/>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5F9A059-C64F-6B4F-7928-055C12D86D45}"/>
              </a:ext>
            </a:extLst>
          </p:cNvPr>
          <p:cNvSpPr txBox="1"/>
          <p:nvPr/>
        </p:nvSpPr>
        <p:spPr>
          <a:xfrm>
            <a:off x="8280054" y="1567536"/>
            <a:ext cx="2975913" cy="1323439"/>
          </a:xfrm>
          <a:prstGeom prst="rect">
            <a:avLst/>
          </a:prstGeom>
          <a:noFill/>
        </p:spPr>
        <p:txBody>
          <a:bodyPr wrap="square">
            <a:spAutoFit/>
          </a:bodyPr>
          <a:lstStyle/>
          <a:p>
            <a:pPr marL="285750" indent="-285750">
              <a:buFont typeface="Arial" panose="020B0604020202020204" pitchFamily="34" charset="0"/>
              <a:buChar char="•"/>
            </a:pPr>
            <a:r>
              <a:rPr lang="en-US" sz="1600" b="0" i="0" dirty="0">
                <a:solidFill>
                  <a:srgbClr val="353535"/>
                </a:solidFill>
                <a:effectLst/>
                <a:latin typeface="Arial" panose="020B0604020202020204" pitchFamily="34" charset="0"/>
              </a:rPr>
              <a:t>Notable: Houses with 6 bedrooms are cheaper than houses with 4 bedrooms and more expense than houses with 3 bedrooms</a:t>
            </a:r>
          </a:p>
        </p:txBody>
      </p:sp>
    </p:spTree>
    <p:extLst>
      <p:ext uri="{BB962C8B-B14F-4D97-AF65-F5344CB8AC3E}">
        <p14:creationId xmlns:p14="http://schemas.microsoft.com/office/powerpoint/2010/main" val="13536448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16494-94A9-52B4-0C3D-476FF109B412}"/>
              </a:ext>
            </a:extLst>
          </p:cNvPr>
          <p:cNvSpPr>
            <a:spLocks noGrp="1"/>
          </p:cNvSpPr>
          <p:nvPr>
            <p:ph type="title"/>
          </p:nvPr>
        </p:nvSpPr>
        <p:spPr/>
        <p:txBody>
          <a:bodyPr/>
          <a:lstStyle/>
          <a:p>
            <a:r>
              <a:rPr lang="en-US" dirty="0"/>
              <a:t>Feature Engineering</a:t>
            </a:r>
            <a:endParaRPr lang="en-SG" dirty="0"/>
          </a:p>
        </p:txBody>
      </p:sp>
      <p:sp>
        <p:nvSpPr>
          <p:cNvPr id="4" name="Content Placeholder 3">
            <a:extLst>
              <a:ext uri="{FF2B5EF4-FFF2-40B4-BE49-F238E27FC236}">
                <a16:creationId xmlns:a16="http://schemas.microsoft.com/office/drawing/2014/main" id="{6BD66451-2C93-4061-EA5F-BAE3CE2FFA9F}"/>
              </a:ext>
            </a:extLst>
          </p:cNvPr>
          <p:cNvSpPr>
            <a:spLocks noGrp="1"/>
          </p:cNvSpPr>
          <p:nvPr>
            <p:ph sz="half" idx="2"/>
          </p:nvPr>
        </p:nvSpPr>
        <p:spPr>
          <a:xfrm>
            <a:off x="8451493" y="1512020"/>
            <a:ext cx="3118789" cy="4412808"/>
          </a:xfrm>
        </p:spPr>
        <p:txBody>
          <a:bodyPr>
            <a:noAutofit/>
          </a:bodyPr>
          <a:lstStyle/>
          <a:p>
            <a:r>
              <a:rPr lang="en-US" sz="1600" dirty="0">
                <a:solidFill>
                  <a:srgbClr val="353535"/>
                </a:solidFill>
                <a:latin typeface="Arial" panose="020B0604020202020204" pitchFamily="34" charset="0"/>
              </a:rPr>
              <a:t>One Hot Encode “Cities”</a:t>
            </a:r>
            <a:endParaRPr lang="en-US" sz="1600" b="0" i="0" dirty="0">
              <a:solidFill>
                <a:srgbClr val="353535"/>
              </a:solidFill>
              <a:effectLst/>
              <a:latin typeface="Arial" panose="020B0604020202020204" pitchFamily="34" charset="0"/>
            </a:endParaRPr>
          </a:p>
          <a:p>
            <a:r>
              <a:rPr lang="en-US" sz="1600" dirty="0">
                <a:solidFill>
                  <a:srgbClr val="353535"/>
                </a:solidFill>
                <a:latin typeface="Arial" panose="020B0604020202020204" pitchFamily="34" charset="0"/>
              </a:rPr>
              <a:t>O</a:t>
            </a:r>
            <a:r>
              <a:rPr lang="en-US" sz="1600" b="0" i="0" dirty="0">
                <a:solidFill>
                  <a:srgbClr val="353535"/>
                </a:solidFill>
                <a:effectLst/>
                <a:latin typeface="Arial" panose="020B0604020202020204" pitchFamily="34" charset="0"/>
              </a:rPr>
              <a:t>rdinal encode “Renovation Status” since it seems that houses with more furnishing are generally priced higher. (unfurnished &gt; semi-furnished &gt; furnished)</a:t>
            </a:r>
          </a:p>
          <a:p>
            <a:r>
              <a:rPr lang="en-US" sz="1600" b="0" i="0" dirty="0">
                <a:solidFill>
                  <a:srgbClr val="353535"/>
                </a:solidFill>
                <a:effectLst/>
                <a:latin typeface="Arial" panose="020B0604020202020204" pitchFamily="34" charset="0"/>
              </a:rPr>
              <a:t>No. of Bedrooms, No. of Toilets, and Stories are already in an ordinal form, but I will encode them such that they start from 0 instead of 1.</a:t>
            </a:r>
          </a:p>
          <a:p>
            <a:r>
              <a:rPr lang="en-US" sz="1600" b="0" i="0" dirty="0">
                <a:solidFill>
                  <a:srgbClr val="353535"/>
                </a:solidFill>
                <a:effectLst/>
                <a:latin typeface="Arial" panose="020B0604020202020204" pitchFamily="34" charset="0"/>
              </a:rPr>
              <a:t>I change the order of No. of Bedrooms such that 1 &gt; 2 &gt; 3 &gt; 6 &gt; 4 &gt; 5</a:t>
            </a:r>
            <a:endParaRPr lang="en-SG" sz="1600" dirty="0"/>
          </a:p>
        </p:txBody>
      </p:sp>
      <p:pic>
        <p:nvPicPr>
          <p:cNvPr id="1028" name="Picture 4">
            <a:extLst>
              <a:ext uri="{FF2B5EF4-FFF2-40B4-BE49-F238E27FC236}">
                <a16:creationId xmlns:a16="http://schemas.microsoft.com/office/drawing/2014/main" id="{14935AE3-B5F1-F931-A4F9-74AD5A1DB6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2837" y="1482688"/>
            <a:ext cx="2619808" cy="260523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CD71D948-22DA-366E-5E42-66FE29C492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67542" y="1132132"/>
            <a:ext cx="1902791" cy="525915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7984DF8-D565-A0CB-0F00-FC8B20D025F2}"/>
              </a:ext>
            </a:extLst>
          </p:cNvPr>
          <p:cNvSpPr txBox="1"/>
          <p:nvPr/>
        </p:nvSpPr>
        <p:spPr>
          <a:xfrm>
            <a:off x="573078" y="4111843"/>
            <a:ext cx="4707463" cy="1815882"/>
          </a:xfrm>
          <a:prstGeom prst="rect">
            <a:avLst/>
          </a:prstGeom>
          <a:noFill/>
        </p:spPr>
        <p:txBody>
          <a:bodyPr wrap="square">
            <a:spAutoFit/>
          </a:bodyPr>
          <a:lstStyle/>
          <a:p>
            <a:pPr marL="285750" indent="-285750">
              <a:buFont typeface="Arial" panose="020B0604020202020204" pitchFamily="34" charset="0"/>
              <a:buChar char="•"/>
            </a:pPr>
            <a:r>
              <a:rPr lang="en-US" sz="1600" b="0" i="0" dirty="0">
                <a:solidFill>
                  <a:srgbClr val="353535"/>
                </a:solidFill>
                <a:effectLst/>
                <a:latin typeface="Arial" panose="020B0604020202020204" pitchFamily="34" charset="0"/>
              </a:rPr>
              <a:t>Both House Area and Price are skewed to the right, with high skews. (&gt;0.5)</a:t>
            </a:r>
          </a:p>
          <a:p>
            <a:pPr marL="285750" indent="-285750" algn="l">
              <a:buFont typeface="Arial" panose="020B0604020202020204" pitchFamily="34" charset="0"/>
              <a:buChar char="•"/>
            </a:pPr>
            <a:r>
              <a:rPr lang="en-US" sz="1600" b="0" i="0" dirty="0">
                <a:solidFill>
                  <a:srgbClr val="353535"/>
                </a:solidFill>
                <a:effectLst/>
                <a:latin typeface="Arial" panose="020B0604020202020204" pitchFamily="34" charset="0"/>
              </a:rPr>
              <a:t>I use a Log transformation to </a:t>
            </a:r>
            <a:r>
              <a:rPr lang="en-US" sz="1600" b="0" i="0" dirty="0" err="1">
                <a:solidFill>
                  <a:srgbClr val="353535"/>
                </a:solidFill>
                <a:effectLst/>
                <a:latin typeface="Arial" panose="020B0604020202020204" pitchFamily="34" charset="0"/>
              </a:rPr>
              <a:t>unskew</a:t>
            </a:r>
            <a:r>
              <a:rPr lang="en-US" sz="1600" b="0" i="0" dirty="0">
                <a:solidFill>
                  <a:srgbClr val="353535"/>
                </a:solidFill>
                <a:effectLst/>
                <a:latin typeface="Arial" panose="020B0604020202020204" pitchFamily="34" charset="0"/>
              </a:rPr>
              <a:t> the data. (&lt;0.5)</a:t>
            </a:r>
          </a:p>
          <a:p>
            <a:pPr marL="285750" indent="-285750" algn="l">
              <a:buFont typeface="Arial" panose="020B0604020202020204" pitchFamily="34" charset="0"/>
              <a:buChar char="•"/>
            </a:pPr>
            <a:r>
              <a:rPr lang="en-US" sz="1600" dirty="0">
                <a:solidFill>
                  <a:srgbClr val="353535"/>
                </a:solidFill>
                <a:latin typeface="Arial" panose="020B0604020202020204" pitchFamily="34" charset="0"/>
              </a:rPr>
              <a:t>I also use a standard scaler within the pipeline after the Log transformation.</a:t>
            </a:r>
            <a:endParaRPr lang="en-US" sz="1600" b="0" i="0" dirty="0">
              <a:solidFill>
                <a:srgbClr val="353535"/>
              </a:solidFill>
              <a:effectLst/>
              <a:latin typeface="Arial" panose="020B0604020202020204" pitchFamily="34" charset="0"/>
            </a:endParaRPr>
          </a:p>
          <a:p>
            <a:pPr marL="285750" indent="-285750" algn="l">
              <a:buFont typeface="Arial" panose="020B0604020202020204" pitchFamily="34" charset="0"/>
              <a:buChar char="•"/>
            </a:pPr>
            <a:endParaRPr lang="en-US" sz="1600" b="0" i="0" dirty="0">
              <a:solidFill>
                <a:srgbClr val="353535"/>
              </a:solidFill>
              <a:effectLst/>
              <a:latin typeface="Arial" panose="020B0604020202020204" pitchFamily="34" charset="0"/>
            </a:endParaRPr>
          </a:p>
        </p:txBody>
      </p:sp>
      <p:sp>
        <p:nvSpPr>
          <p:cNvPr id="10" name="Arrow: Right 9">
            <a:extLst>
              <a:ext uri="{FF2B5EF4-FFF2-40B4-BE49-F238E27FC236}">
                <a16:creationId xmlns:a16="http://schemas.microsoft.com/office/drawing/2014/main" id="{A1C05595-5E33-42E3-E4C9-0CF092F890DC}"/>
              </a:ext>
            </a:extLst>
          </p:cNvPr>
          <p:cNvSpPr/>
          <p:nvPr/>
        </p:nvSpPr>
        <p:spPr>
          <a:xfrm>
            <a:off x="3116797" y="2646752"/>
            <a:ext cx="348554" cy="29866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5122" name="Picture 2">
            <a:extLst>
              <a:ext uri="{FF2B5EF4-FFF2-40B4-BE49-F238E27FC236}">
                <a16:creationId xmlns:a16="http://schemas.microsoft.com/office/drawing/2014/main" id="{29EAF826-A9ED-A2A3-145A-D7F1817491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9502" y="1493469"/>
            <a:ext cx="2619809" cy="25836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13285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16494-94A9-52B4-0C3D-476FF109B412}"/>
              </a:ext>
            </a:extLst>
          </p:cNvPr>
          <p:cNvSpPr>
            <a:spLocks noGrp="1"/>
          </p:cNvSpPr>
          <p:nvPr>
            <p:ph type="title"/>
          </p:nvPr>
        </p:nvSpPr>
        <p:spPr/>
        <p:txBody>
          <a:bodyPr/>
          <a:lstStyle/>
          <a:p>
            <a:r>
              <a:rPr lang="en-US" dirty="0"/>
              <a:t>Feature Engineering</a:t>
            </a:r>
            <a:endParaRPr lang="en-SG" dirty="0"/>
          </a:p>
        </p:txBody>
      </p:sp>
      <p:sp>
        <p:nvSpPr>
          <p:cNvPr id="4" name="Content Placeholder 3">
            <a:extLst>
              <a:ext uri="{FF2B5EF4-FFF2-40B4-BE49-F238E27FC236}">
                <a16:creationId xmlns:a16="http://schemas.microsoft.com/office/drawing/2014/main" id="{6BD66451-2C93-4061-EA5F-BAE3CE2FFA9F}"/>
              </a:ext>
            </a:extLst>
          </p:cNvPr>
          <p:cNvSpPr>
            <a:spLocks noGrp="1"/>
          </p:cNvSpPr>
          <p:nvPr>
            <p:ph sz="half" idx="2"/>
          </p:nvPr>
        </p:nvSpPr>
        <p:spPr>
          <a:xfrm>
            <a:off x="5625702" y="2082465"/>
            <a:ext cx="3118789" cy="422968"/>
          </a:xfrm>
        </p:spPr>
        <p:txBody>
          <a:bodyPr>
            <a:noAutofit/>
          </a:bodyPr>
          <a:lstStyle/>
          <a:p>
            <a:pPr marL="0" indent="0">
              <a:buNone/>
            </a:pPr>
            <a:r>
              <a:rPr lang="en-US" sz="1600" b="1" u="sng" dirty="0">
                <a:solidFill>
                  <a:srgbClr val="353535"/>
                </a:solidFill>
                <a:latin typeface="Arial" panose="020B0604020202020204" pitchFamily="34" charset="0"/>
              </a:rPr>
              <a:t>Preprocessing Steps</a:t>
            </a:r>
            <a:endParaRPr lang="en-SG" sz="1600" b="1" u="sng" dirty="0"/>
          </a:p>
        </p:txBody>
      </p:sp>
      <p:sp>
        <p:nvSpPr>
          <p:cNvPr id="6" name="TextBox 5">
            <a:extLst>
              <a:ext uri="{FF2B5EF4-FFF2-40B4-BE49-F238E27FC236}">
                <a16:creationId xmlns:a16="http://schemas.microsoft.com/office/drawing/2014/main" id="{27984DF8-D565-A0CB-0F00-FC8B20D025F2}"/>
              </a:ext>
            </a:extLst>
          </p:cNvPr>
          <p:cNvSpPr txBox="1"/>
          <p:nvPr/>
        </p:nvSpPr>
        <p:spPr>
          <a:xfrm>
            <a:off x="809459" y="2082465"/>
            <a:ext cx="4707463" cy="338554"/>
          </a:xfrm>
          <a:prstGeom prst="rect">
            <a:avLst/>
          </a:prstGeom>
          <a:noFill/>
        </p:spPr>
        <p:txBody>
          <a:bodyPr wrap="square">
            <a:spAutoFit/>
          </a:bodyPr>
          <a:lstStyle/>
          <a:p>
            <a:r>
              <a:rPr lang="en-US" sz="1600" b="1" i="0" u="sng" dirty="0">
                <a:solidFill>
                  <a:srgbClr val="353535"/>
                </a:solidFill>
                <a:effectLst/>
                <a:latin typeface="Arial" panose="020B0604020202020204" pitchFamily="34" charset="0"/>
              </a:rPr>
              <a:t>Log Transformation</a:t>
            </a:r>
          </a:p>
        </p:txBody>
      </p:sp>
      <p:pic>
        <p:nvPicPr>
          <p:cNvPr id="9" name="Picture 8">
            <a:extLst>
              <a:ext uri="{FF2B5EF4-FFF2-40B4-BE49-F238E27FC236}">
                <a16:creationId xmlns:a16="http://schemas.microsoft.com/office/drawing/2014/main" id="{E4611E54-B1E8-B5FF-3EB4-D213B856BCB0}"/>
              </a:ext>
            </a:extLst>
          </p:cNvPr>
          <p:cNvPicPr>
            <a:picLocks noChangeAspect="1"/>
          </p:cNvPicPr>
          <p:nvPr/>
        </p:nvPicPr>
        <p:blipFill>
          <a:blip r:embed="rId2"/>
          <a:stretch>
            <a:fillRect/>
          </a:stretch>
        </p:blipFill>
        <p:spPr>
          <a:xfrm>
            <a:off x="5625702" y="2505276"/>
            <a:ext cx="4213873" cy="3055058"/>
          </a:xfrm>
          <a:prstGeom prst="rect">
            <a:avLst/>
          </a:prstGeom>
        </p:spPr>
      </p:pic>
      <p:pic>
        <p:nvPicPr>
          <p:cNvPr id="12" name="Picture 11">
            <a:extLst>
              <a:ext uri="{FF2B5EF4-FFF2-40B4-BE49-F238E27FC236}">
                <a16:creationId xmlns:a16="http://schemas.microsoft.com/office/drawing/2014/main" id="{E8D5159C-A293-CE63-59D9-49E673061D81}"/>
              </a:ext>
            </a:extLst>
          </p:cNvPr>
          <p:cNvPicPr>
            <a:picLocks noChangeAspect="1"/>
          </p:cNvPicPr>
          <p:nvPr/>
        </p:nvPicPr>
        <p:blipFill>
          <a:blip r:embed="rId3"/>
          <a:stretch>
            <a:fillRect/>
          </a:stretch>
        </p:blipFill>
        <p:spPr>
          <a:xfrm>
            <a:off x="809459" y="2491711"/>
            <a:ext cx="4507700" cy="1541094"/>
          </a:xfrm>
          <a:prstGeom prst="rect">
            <a:avLst/>
          </a:prstGeom>
        </p:spPr>
      </p:pic>
    </p:spTree>
    <p:extLst>
      <p:ext uri="{BB962C8B-B14F-4D97-AF65-F5344CB8AC3E}">
        <p14:creationId xmlns:p14="http://schemas.microsoft.com/office/powerpoint/2010/main" val="34554739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5FBD0-02F9-9FC9-BD4D-DEF2857EAAE8}"/>
              </a:ext>
            </a:extLst>
          </p:cNvPr>
          <p:cNvSpPr>
            <a:spLocks noGrp="1"/>
          </p:cNvSpPr>
          <p:nvPr>
            <p:ph type="title"/>
          </p:nvPr>
        </p:nvSpPr>
        <p:spPr/>
        <p:txBody>
          <a:bodyPr/>
          <a:lstStyle/>
          <a:p>
            <a:r>
              <a:rPr lang="en-US" dirty="0"/>
              <a:t>Model Selection</a:t>
            </a:r>
            <a:endParaRPr lang="en-SG" dirty="0"/>
          </a:p>
        </p:txBody>
      </p:sp>
      <p:pic>
        <p:nvPicPr>
          <p:cNvPr id="11" name="Content Placeholder 10">
            <a:extLst>
              <a:ext uri="{FF2B5EF4-FFF2-40B4-BE49-F238E27FC236}">
                <a16:creationId xmlns:a16="http://schemas.microsoft.com/office/drawing/2014/main" id="{3F9844AA-EA14-93BA-0AAF-1BDCF39546E0}"/>
              </a:ext>
            </a:extLst>
          </p:cNvPr>
          <p:cNvPicPr>
            <a:picLocks noGrp="1" noChangeAspect="1"/>
          </p:cNvPicPr>
          <p:nvPr>
            <p:ph sz="half" idx="1"/>
          </p:nvPr>
        </p:nvPicPr>
        <p:blipFill>
          <a:blip r:embed="rId2"/>
          <a:stretch>
            <a:fillRect/>
          </a:stretch>
        </p:blipFill>
        <p:spPr>
          <a:xfrm>
            <a:off x="1050577" y="2062300"/>
            <a:ext cx="5181600" cy="3665612"/>
          </a:xfrm>
        </p:spPr>
      </p:pic>
      <p:sp>
        <p:nvSpPr>
          <p:cNvPr id="12" name="Content Placeholder 2">
            <a:extLst>
              <a:ext uri="{FF2B5EF4-FFF2-40B4-BE49-F238E27FC236}">
                <a16:creationId xmlns:a16="http://schemas.microsoft.com/office/drawing/2014/main" id="{152E096E-E418-1606-24C7-9ADAB6FBAC7A}"/>
              </a:ext>
            </a:extLst>
          </p:cNvPr>
          <p:cNvSpPr txBox="1">
            <a:spLocks/>
          </p:cNvSpPr>
          <p:nvPr/>
        </p:nvSpPr>
        <p:spPr>
          <a:xfrm>
            <a:off x="838200" y="1825625"/>
            <a:ext cx="5181600" cy="6934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t>Scoring Metrics:</a:t>
            </a:r>
          </a:p>
          <a:p>
            <a:pPr lvl="1"/>
            <a:endParaRPr lang="en-SG" sz="1200" dirty="0"/>
          </a:p>
        </p:txBody>
      </p:sp>
      <p:pic>
        <p:nvPicPr>
          <p:cNvPr id="14" name="Picture 13">
            <a:extLst>
              <a:ext uri="{FF2B5EF4-FFF2-40B4-BE49-F238E27FC236}">
                <a16:creationId xmlns:a16="http://schemas.microsoft.com/office/drawing/2014/main" id="{0D9F1108-6CA2-8A02-FCF8-AC4D4341075E}"/>
              </a:ext>
            </a:extLst>
          </p:cNvPr>
          <p:cNvPicPr>
            <a:picLocks noChangeAspect="1"/>
          </p:cNvPicPr>
          <p:nvPr/>
        </p:nvPicPr>
        <p:blipFill>
          <a:blip r:embed="rId3"/>
          <a:stretch>
            <a:fillRect/>
          </a:stretch>
        </p:blipFill>
        <p:spPr>
          <a:xfrm>
            <a:off x="6172202" y="1690688"/>
            <a:ext cx="4395378" cy="2639600"/>
          </a:xfrm>
          <a:prstGeom prst="rect">
            <a:avLst/>
          </a:prstGeom>
        </p:spPr>
      </p:pic>
      <p:sp>
        <p:nvSpPr>
          <p:cNvPr id="15" name="TextBox 14">
            <a:extLst>
              <a:ext uri="{FF2B5EF4-FFF2-40B4-BE49-F238E27FC236}">
                <a16:creationId xmlns:a16="http://schemas.microsoft.com/office/drawing/2014/main" id="{9012899E-E7A1-D7F4-06BE-D74F1AA37EF3}"/>
              </a:ext>
            </a:extLst>
          </p:cNvPr>
          <p:cNvSpPr txBox="1"/>
          <p:nvPr/>
        </p:nvSpPr>
        <p:spPr>
          <a:xfrm>
            <a:off x="6232177" y="4371649"/>
            <a:ext cx="3816883" cy="1323439"/>
          </a:xfrm>
          <a:prstGeom prst="rect">
            <a:avLst/>
          </a:prstGeom>
          <a:noFill/>
        </p:spPr>
        <p:txBody>
          <a:bodyPr wrap="square" rtlCol="0">
            <a:spAutoFit/>
          </a:bodyPr>
          <a:lstStyle/>
          <a:p>
            <a:r>
              <a:rPr lang="en-US" sz="1600" dirty="0"/>
              <a:t>I have to create custom loss/score functions since “Price ($)” was Log transformed. So, to calculate the score I convert it back to the original form using exponents.</a:t>
            </a:r>
            <a:endParaRPr lang="en-SG" sz="1600" dirty="0"/>
          </a:p>
        </p:txBody>
      </p:sp>
    </p:spTree>
    <p:extLst>
      <p:ext uri="{BB962C8B-B14F-4D97-AF65-F5344CB8AC3E}">
        <p14:creationId xmlns:p14="http://schemas.microsoft.com/office/powerpoint/2010/main" val="23312548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5FBD0-02F9-9FC9-BD4D-DEF2857EAAE8}"/>
              </a:ext>
            </a:extLst>
          </p:cNvPr>
          <p:cNvSpPr>
            <a:spLocks noGrp="1"/>
          </p:cNvSpPr>
          <p:nvPr>
            <p:ph type="title"/>
          </p:nvPr>
        </p:nvSpPr>
        <p:spPr/>
        <p:txBody>
          <a:bodyPr/>
          <a:lstStyle/>
          <a:p>
            <a:r>
              <a:rPr lang="en-US" dirty="0"/>
              <a:t>Model Selection</a:t>
            </a:r>
            <a:endParaRPr lang="en-SG" dirty="0"/>
          </a:p>
        </p:txBody>
      </p:sp>
      <p:sp>
        <p:nvSpPr>
          <p:cNvPr id="12" name="Content Placeholder 2">
            <a:extLst>
              <a:ext uri="{FF2B5EF4-FFF2-40B4-BE49-F238E27FC236}">
                <a16:creationId xmlns:a16="http://schemas.microsoft.com/office/drawing/2014/main" id="{152E096E-E418-1606-24C7-9ADAB6FBAC7A}"/>
              </a:ext>
            </a:extLst>
          </p:cNvPr>
          <p:cNvSpPr txBox="1">
            <a:spLocks/>
          </p:cNvSpPr>
          <p:nvPr/>
        </p:nvSpPr>
        <p:spPr>
          <a:xfrm>
            <a:off x="838199" y="1825625"/>
            <a:ext cx="5792675" cy="6934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Untuned Models Ranked by RMSE and R2 respectively:</a:t>
            </a:r>
            <a:endParaRPr lang="en-SG" sz="1200" dirty="0"/>
          </a:p>
        </p:txBody>
      </p:sp>
      <p:pic>
        <p:nvPicPr>
          <p:cNvPr id="10242" name="Picture 2">
            <a:extLst>
              <a:ext uri="{FF2B5EF4-FFF2-40B4-BE49-F238E27FC236}">
                <a16:creationId xmlns:a16="http://schemas.microsoft.com/office/drawing/2014/main" id="{8EFF4BE2-2A3D-1DB7-CC1D-F6393340032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73"/>
          <a:stretch/>
        </p:blipFill>
        <p:spPr bwMode="auto">
          <a:xfrm>
            <a:off x="4245621" y="2129666"/>
            <a:ext cx="3588497" cy="2890685"/>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a:extLst>
              <a:ext uri="{FF2B5EF4-FFF2-40B4-BE49-F238E27FC236}">
                <a16:creationId xmlns:a16="http://schemas.microsoft.com/office/drawing/2014/main" id="{37BBBE47-240D-36C5-A9B9-A9B62A6F322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000"/>
          <a:stretch/>
        </p:blipFill>
        <p:spPr bwMode="auto">
          <a:xfrm>
            <a:off x="657125" y="2174593"/>
            <a:ext cx="3588496" cy="3003159"/>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5">
            <a:extLst>
              <a:ext uri="{FF2B5EF4-FFF2-40B4-BE49-F238E27FC236}">
                <a16:creationId xmlns:a16="http://schemas.microsoft.com/office/drawing/2014/main" id="{D0D4AFCE-E943-8BAF-9F77-04437F57B7AC}"/>
              </a:ext>
            </a:extLst>
          </p:cNvPr>
          <p:cNvSpPr>
            <a:spLocks noChangeArrowheads="1"/>
          </p:cNvSpPr>
          <p:nvPr/>
        </p:nvSpPr>
        <p:spPr bwMode="auto">
          <a:xfrm>
            <a:off x="838199" y="4980635"/>
            <a:ext cx="7521187"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rgbClr val="303030"/>
                </a:solidFill>
                <a:effectLst/>
                <a:ea typeface="Courier New" panose="02070309020205020404" pitchFamily="49" charset="0"/>
              </a:rPr>
              <a:t>Baseline R2 from </a:t>
            </a:r>
            <a:r>
              <a:rPr kumimoji="0" lang="en-US" altLang="en-US" sz="1600" b="0" i="0" u="none" strike="noStrike" cap="none" normalizeH="0" baseline="0" dirty="0" err="1">
                <a:ln>
                  <a:noFill/>
                </a:ln>
                <a:solidFill>
                  <a:srgbClr val="303030"/>
                </a:solidFill>
                <a:effectLst/>
                <a:ea typeface="Courier New" panose="02070309020205020404" pitchFamily="49" charset="0"/>
              </a:rPr>
              <a:t>DummyRegressor</a:t>
            </a:r>
            <a:r>
              <a:rPr kumimoji="0" lang="en-US" altLang="en-US" sz="1600" b="0" i="0" u="none" strike="noStrike" cap="none" normalizeH="0" baseline="0" dirty="0">
                <a:ln>
                  <a:noFill/>
                </a:ln>
                <a:solidFill>
                  <a:srgbClr val="303030"/>
                </a:solidFill>
                <a:effectLst/>
                <a:ea typeface="Courier New" panose="02070309020205020404" pitchFamily="49" charset="0"/>
              </a:rPr>
              <a:t>: -0.04650839316728548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rgbClr val="303030"/>
                </a:solidFill>
                <a:effectLst/>
                <a:ea typeface="Courier New" panose="02070309020205020404" pitchFamily="49" charset="0"/>
              </a:rPr>
              <a:t>Baseline Root Mean Squared Error from </a:t>
            </a:r>
            <a:r>
              <a:rPr kumimoji="0" lang="en-US" altLang="en-US" sz="1600" b="0" i="0" u="none" strike="noStrike" cap="none" normalizeH="0" baseline="0" dirty="0" err="1">
                <a:ln>
                  <a:noFill/>
                </a:ln>
                <a:solidFill>
                  <a:srgbClr val="303030"/>
                </a:solidFill>
                <a:effectLst/>
                <a:ea typeface="Courier New" panose="02070309020205020404" pitchFamily="49" charset="0"/>
              </a:rPr>
              <a:t>DummyRegressor</a:t>
            </a:r>
            <a:r>
              <a:rPr kumimoji="0" lang="en-US" altLang="en-US" sz="1600" b="0" i="0" u="none" strike="noStrike" cap="none" normalizeH="0" baseline="0" dirty="0">
                <a:ln>
                  <a:noFill/>
                </a:ln>
                <a:solidFill>
                  <a:srgbClr val="303030"/>
                </a:solidFill>
                <a:effectLst/>
                <a:ea typeface="Courier New" panose="02070309020205020404" pitchFamily="49" charset="0"/>
              </a:rPr>
              <a:t>: 131734.69118270132</a:t>
            </a:r>
            <a:r>
              <a:rPr kumimoji="0" lang="en-US" altLang="en-US" sz="1600" b="0" i="0" u="none" strike="noStrike" cap="none" normalizeH="0" baseline="0" dirty="0">
                <a:ln>
                  <a:noFill/>
                </a:ln>
                <a:solidFill>
                  <a:schemeClr val="tx1"/>
                </a:solidFill>
                <a:effectLst/>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600" dirty="0"/>
              <a:t>Best Untuned Models: </a:t>
            </a:r>
            <a:r>
              <a:rPr lang="en-US" altLang="en-US" sz="1600" dirty="0" err="1"/>
              <a:t>BayesianRidge</a:t>
            </a:r>
            <a:r>
              <a:rPr lang="en-US" altLang="en-US" sz="1600" dirty="0"/>
              <a:t>, Ridge, </a:t>
            </a:r>
            <a:r>
              <a:rPr lang="en-US" altLang="en-US" sz="1600" dirty="0" err="1"/>
              <a:t>LinearRegression</a:t>
            </a:r>
            <a:endParaRPr kumimoji="0" lang="en-US" altLang="en-US" sz="1600" b="0" i="0" u="none" strike="noStrike" cap="none" normalizeH="0" baseline="0" dirty="0">
              <a:ln>
                <a:noFill/>
              </a:ln>
              <a:solidFill>
                <a:schemeClr val="tx1"/>
              </a:solidFill>
              <a:effectLst/>
            </a:endParaRPr>
          </a:p>
        </p:txBody>
      </p:sp>
      <p:grpSp>
        <p:nvGrpSpPr>
          <p:cNvPr id="10" name="Group 9">
            <a:extLst>
              <a:ext uri="{FF2B5EF4-FFF2-40B4-BE49-F238E27FC236}">
                <a16:creationId xmlns:a16="http://schemas.microsoft.com/office/drawing/2014/main" id="{B40AEF79-441D-FFDE-D0AD-428908D9F2EA}"/>
              </a:ext>
            </a:extLst>
          </p:cNvPr>
          <p:cNvGrpSpPr/>
          <p:nvPr/>
        </p:nvGrpSpPr>
        <p:grpSpPr>
          <a:xfrm>
            <a:off x="8075311" y="1197930"/>
            <a:ext cx="2992883" cy="2378440"/>
            <a:chOff x="2971364" y="1776182"/>
            <a:chExt cx="4508962" cy="3305636"/>
          </a:xfrm>
        </p:grpSpPr>
        <p:pic>
          <p:nvPicPr>
            <p:cNvPr id="7" name="Picture 6">
              <a:extLst>
                <a:ext uri="{FF2B5EF4-FFF2-40B4-BE49-F238E27FC236}">
                  <a16:creationId xmlns:a16="http://schemas.microsoft.com/office/drawing/2014/main" id="{5594D808-FB5D-5606-55C3-0C4DA5590C8B}"/>
                </a:ext>
              </a:extLst>
            </p:cNvPr>
            <p:cNvPicPr>
              <a:picLocks noChangeAspect="1"/>
            </p:cNvPicPr>
            <p:nvPr/>
          </p:nvPicPr>
          <p:blipFill rotWithShape="1">
            <a:blip r:embed="rId3"/>
            <a:srcRect r="60321"/>
            <a:stretch/>
          </p:blipFill>
          <p:spPr>
            <a:xfrm>
              <a:off x="2971364" y="1776182"/>
              <a:ext cx="2479640" cy="3305636"/>
            </a:xfrm>
            <a:prstGeom prst="rect">
              <a:avLst/>
            </a:prstGeom>
          </p:spPr>
        </p:pic>
        <p:pic>
          <p:nvPicPr>
            <p:cNvPr id="9" name="Picture 8">
              <a:extLst>
                <a:ext uri="{FF2B5EF4-FFF2-40B4-BE49-F238E27FC236}">
                  <a16:creationId xmlns:a16="http://schemas.microsoft.com/office/drawing/2014/main" id="{F3E995C8-48EE-8C22-82A9-B64EF9E66F2A}"/>
                </a:ext>
              </a:extLst>
            </p:cNvPr>
            <p:cNvPicPr>
              <a:picLocks noChangeAspect="1"/>
            </p:cNvPicPr>
            <p:nvPr/>
          </p:nvPicPr>
          <p:blipFill rotWithShape="1">
            <a:blip r:embed="rId3"/>
            <a:srcRect l="67527"/>
            <a:stretch/>
          </p:blipFill>
          <p:spPr>
            <a:xfrm>
              <a:off x="5451004" y="1776182"/>
              <a:ext cx="2029322" cy="3305636"/>
            </a:xfrm>
            <a:prstGeom prst="rect">
              <a:avLst/>
            </a:prstGeom>
          </p:spPr>
        </p:pic>
      </p:grpSp>
      <p:pic>
        <p:nvPicPr>
          <p:cNvPr id="16" name="Picture 15">
            <a:extLst>
              <a:ext uri="{FF2B5EF4-FFF2-40B4-BE49-F238E27FC236}">
                <a16:creationId xmlns:a16="http://schemas.microsoft.com/office/drawing/2014/main" id="{D2BFCE06-528D-2308-FD28-B63B8505E50E}"/>
              </a:ext>
            </a:extLst>
          </p:cNvPr>
          <p:cNvPicPr>
            <a:picLocks noChangeAspect="1"/>
          </p:cNvPicPr>
          <p:nvPr/>
        </p:nvPicPr>
        <p:blipFill>
          <a:blip r:embed="rId4"/>
          <a:stretch>
            <a:fillRect/>
          </a:stretch>
        </p:blipFill>
        <p:spPr>
          <a:xfrm>
            <a:off x="8075311" y="3676172"/>
            <a:ext cx="3124597" cy="2711607"/>
          </a:xfrm>
          <a:prstGeom prst="rect">
            <a:avLst/>
          </a:prstGeom>
        </p:spPr>
      </p:pic>
    </p:spTree>
    <p:extLst>
      <p:ext uri="{BB962C8B-B14F-4D97-AF65-F5344CB8AC3E}">
        <p14:creationId xmlns:p14="http://schemas.microsoft.com/office/powerpoint/2010/main" val="41269667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5FBD0-02F9-9FC9-BD4D-DEF2857EAAE8}"/>
              </a:ext>
            </a:extLst>
          </p:cNvPr>
          <p:cNvSpPr>
            <a:spLocks noGrp="1"/>
          </p:cNvSpPr>
          <p:nvPr>
            <p:ph type="title"/>
          </p:nvPr>
        </p:nvSpPr>
        <p:spPr/>
        <p:txBody>
          <a:bodyPr/>
          <a:lstStyle/>
          <a:p>
            <a:r>
              <a:rPr lang="en-US" dirty="0"/>
              <a:t>Model Improvement</a:t>
            </a:r>
            <a:endParaRPr lang="en-SG" dirty="0"/>
          </a:p>
        </p:txBody>
      </p:sp>
      <p:pic>
        <p:nvPicPr>
          <p:cNvPr id="12290" name="Picture 2">
            <a:extLst>
              <a:ext uri="{FF2B5EF4-FFF2-40B4-BE49-F238E27FC236}">
                <a16:creationId xmlns:a16="http://schemas.microsoft.com/office/drawing/2014/main" id="{9A398936-C30D-C907-166F-EE0F04F4A33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2975" b="1"/>
          <a:stretch/>
        </p:blipFill>
        <p:spPr bwMode="auto">
          <a:xfrm>
            <a:off x="5779980" y="1462275"/>
            <a:ext cx="4856557" cy="3581097"/>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a:extLst>
              <a:ext uri="{FF2B5EF4-FFF2-40B4-BE49-F238E27FC236}">
                <a16:creationId xmlns:a16="http://schemas.microsoft.com/office/drawing/2014/main" id="{93FD7FC6-AC80-C327-20D2-1E3F17739D6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2215"/>
          <a:stretch/>
        </p:blipFill>
        <p:spPr bwMode="auto">
          <a:xfrm>
            <a:off x="533995" y="1430477"/>
            <a:ext cx="4856557" cy="3638998"/>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2A36E54E-A381-48D0-652B-22BFBF761C4F}"/>
              </a:ext>
            </a:extLst>
          </p:cNvPr>
          <p:cNvSpPr txBox="1"/>
          <p:nvPr/>
        </p:nvSpPr>
        <p:spPr>
          <a:xfrm>
            <a:off x="1037781" y="5069475"/>
            <a:ext cx="5763669" cy="923330"/>
          </a:xfrm>
          <a:prstGeom prst="rect">
            <a:avLst/>
          </a:prstGeom>
          <a:noFill/>
        </p:spPr>
        <p:txBody>
          <a:bodyPr wrap="square" rtlCol="0">
            <a:spAutoFit/>
          </a:bodyPr>
          <a:lstStyle/>
          <a:p>
            <a:r>
              <a:rPr lang="en-US" dirty="0"/>
              <a:t>Models tuned with ABC generally score higher than those tuned with </a:t>
            </a:r>
            <a:r>
              <a:rPr lang="en-US" dirty="0" err="1"/>
              <a:t>GridSearchCV</a:t>
            </a:r>
            <a:r>
              <a:rPr lang="en-US" dirty="0"/>
              <a:t>, except for </a:t>
            </a:r>
            <a:r>
              <a:rPr lang="en-US" dirty="0" err="1"/>
              <a:t>RandomForestRegressor</a:t>
            </a:r>
            <a:endParaRPr lang="en-SG" dirty="0"/>
          </a:p>
        </p:txBody>
      </p:sp>
      <p:sp>
        <p:nvSpPr>
          <p:cNvPr id="10" name="TextBox 9">
            <a:extLst>
              <a:ext uri="{FF2B5EF4-FFF2-40B4-BE49-F238E27FC236}">
                <a16:creationId xmlns:a16="http://schemas.microsoft.com/office/drawing/2014/main" id="{8FABB218-CA42-FDFB-A3B2-5B337BDCADB0}"/>
              </a:ext>
            </a:extLst>
          </p:cNvPr>
          <p:cNvSpPr txBox="1"/>
          <p:nvPr/>
        </p:nvSpPr>
        <p:spPr>
          <a:xfrm>
            <a:off x="6619076" y="5069475"/>
            <a:ext cx="5102942" cy="1200329"/>
          </a:xfrm>
          <a:prstGeom prst="rect">
            <a:avLst/>
          </a:prstGeom>
          <a:noFill/>
        </p:spPr>
        <p:txBody>
          <a:bodyPr wrap="square" rtlCol="0">
            <a:spAutoFit/>
          </a:bodyPr>
          <a:lstStyle/>
          <a:p>
            <a:r>
              <a:rPr lang="en-US" dirty="0"/>
              <a:t>Best model according to R2 score: </a:t>
            </a:r>
            <a:r>
              <a:rPr lang="en-US" dirty="0" err="1"/>
              <a:t>GradientBoostingRegressor</a:t>
            </a:r>
            <a:r>
              <a:rPr lang="en-US" dirty="0"/>
              <a:t> Tuned using ABC</a:t>
            </a:r>
          </a:p>
          <a:p>
            <a:r>
              <a:rPr lang="en-US" dirty="0"/>
              <a:t>Best model according to RMSE:</a:t>
            </a:r>
          </a:p>
          <a:p>
            <a:r>
              <a:rPr lang="en-US" dirty="0" err="1"/>
              <a:t>ElasticNet</a:t>
            </a:r>
            <a:r>
              <a:rPr lang="en-US" dirty="0"/>
              <a:t> Tuned using ABC</a:t>
            </a:r>
            <a:endParaRPr lang="en-SG" dirty="0"/>
          </a:p>
        </p:txBody>
      </p:sp>
    </p:spTree>
    <p:extLst>
      <p:ext uri="{BB962C8B-B14F-4D97-AF65-F5344CB8AC3E}">
        <p14:creationId xmlns:p14="http://schemas.microsoft.com/office/powerpoint/2010/main" val="7833089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5FBD0-02F9-9FC9-BD4D-DEF2857EAAE8}"/>
              </a:ext>
            </a:extLst>
          </p:cNvPr>
          <p:cNvSpPr>
            <a:spLocks noGrp="1"/>
          </p:cNvSpPr>
          <p:nvPr>
            <p:ph type="title"/>
          </p:nvPr>
        </p:nvSpPr>
        <p:spPr/>
        <p:txBody>
          <a:bodyPr/>
          <a:lstStyle/>
          <a:p>
            <a:r>
              <a:rPr lang="en-US" dirty="0"/>
              <a:t>Model Evaluation</a:t>
            </a:r>
            <a:endParaRPr lang="en-SG" dirty="0"/>
          </a:p>
        </p:txBody>
      </p:sp>
      <p:pic>
        <p:nvPicPr>
          <p:cNvPr id="13314" name="Picture 2">
            <a:extLst>
              <a:ext uri="{FF2B5EF4-FFF2-40B4-BE49-F238E27FC236}">
                <a16:creationId xmlns:a16="http://schemas.microsoft.com/office/drawing/2014/main" id="{DC19F2BE-0717-1089-4EF7-D87C448766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563330"/>
            <a:ext cx="3591232" cy="5195620"/>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a:extLst>
              <a:ext uri="{FF2B5EF4-FFF2-40B4-BE49-F238E27FC236}">
                <a16:creationId xmlns:a16="http://schemas.microsoft.com/office/drawing/2014/main" id="{94550143-04C5-B03A-2BD0-4844EDFA5C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4322" y="1563330"/>
            <a:ext cx="3687447" cy="519562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7582CC4B-7F95-43E2-2129-A364C62F199F}"/>
              </a:ext>
            </a:extLst>
          </p:cNvPr>
          <p:cNvPicPr>
            <a:picLocks noChangeAspect="1"/>
          </p:cNvPicPr>
          <p:nvPr/>
        </p:nvPicPr>
        <p:blipFill rotWithShape="1">
          <a:blip r:embed="rId4"/>
          <a:srcRect r="10014"/>
          <a:stretch/>
        </p:blipFill>
        <p:spPr>
          <a:xfrm>
            <a:off x="8804401" y="1563330"/>
            <a:ext cx="2891470" cy="829449"/>
          </a:xfrm>
          <a:prstGeom prst="rect">
            <a:avLst/>
          </a:prstGeom>
        </p:spPr>
      </p:pic>
      <p:pic>
        <p:nvPicPr>
          <p:cNvPr id="8" name="Picture 7">
            <a:extLst>
              <a:ext uri="{FF2B5EF4-FFF2-40B4-BE49-F238E27FC236}">
                <a16:creationId xmlns:a16="http://schemas.microsoft.com/office/drawing/2014/main" id="{A54DF2AD-00F8-FACA-3610-C3A7C80912CD}"/>
              </a:ext>
            </a:extLst>
          </p:cNvPr>
          <p:cNvPicPr>
            <a:picLocks noChangeAspect="1"/>
          </p:cNvPicPr>
          <p:nvPr/>
        </p:nvPicPr>
        <p:blipFill>
          <a:blip r:embed="rId5"/>
          <a:stretch>
            <a:fillRect/>
          </a:stretch>
        </p:blipFill>
        <p:spPr>
          <a:xfrm>
            <a:off x="8804402" y="2455919"/>
            <a:ext cx="3074288" cy="829449"/>
          </a:xfrm>
          <a:prstGeom prst="rect">
            <a:avLst/>
          </a:prstGeom>
        </p:spPr>
      </p:pic>
      <p:sp>
        <p:nvSpPr>
          <p:cNvPr id="9" name="TextBox 8">
            <a:extLst>
              <a:ext uri="{FF2B5EF4-FFF2-40B4-BE49-F238E27FC236}">
                <a16:creationId xmlns:a16="http://schemas.microsoft.com/office/drawing/2014/main" id="{2109912E-F476-AEA9-E586-B648EB0CCF52}"/>
              </a:ext>
            </a:extLst>
          </p:cNvPr>
          <p:cNvSpPr txBox="1"/>
          <p:nvPr/>
        </p:nvSpPr>
        <p:spPr>
          <a:xfrm>
            <a:off x="8859163" y="3429000"/>
            <a:ext cx="2964765" cy="1754326"/>
          </a:xfrm>
          <a:prstGeom prst="rect">
            <a:avLst/>
          </a:prstGeom>
          <a:noFill/>
        </p:spPr>
        <p:txBody>
          <a:bodyPr wrap="square" rtlCol="0">
            <a:spAutoFit/>
          </a:bodyPr>
          <a:lstStyle/>
          <a:p>
            <a:r>
              <a:rPr lang="en-US" dirty="0"/>
              <a:t>Tuned ABC </a:t>
            </a:r>
            <a:r>
              <a:rPr lang="en-US" dirty="0" err="1"/>
              <a:t>ElasticNet</a:t>
            </a:r>
            <a:r>
              <a:rPr lang="en-US" dirty="0"/>
              <a:t> is the best performing based on both R2 score and RMSE. The Prediction Error Plot is very close to the ideal.</a:t>
            </a:r>
            <a:endParaRPr lang="en-SG" dirty="0"/>
          </a:p>
        </p:txBody>
      </p:sp>
      <p:sp>
        <p:nvSpPr>
          <p:cNvPr id="11" name="TextBox 10">
            <a:extLst>
              <a:ext uri="{FF2B5EF4-FFF2-40B4-BE49-F238E27FC236}">
                <a16:creationId xmlns:a16="http://schemas.microsoft.com/office/drawing/2014/main" id="{A534C04A-6899-313A-8523-BB83075C5E95}"/>
              </a:ext>
            </a:extLst>
          </p:cNvPr>
          <p:cNvSpPr txBox="1"/>
          <p:nvPr/>
        </p:nvSpPr>
        <p:spPr>
          <a:xfrm>
            <a:off x="3048492" y="1306817"/>
            <a:ext cx="6096982" cy="4247317"/>
          </a:xfrm>
          <a:prstGeom prst="rect">
            <a:avLst/>
          </a:prstGeom>
          <a:noFill/>
        </p:spPr>
        <p:txBody>
          <a:bodyPr wrap="square">
            <a:spAutoFit/>
          </a:bodyPr>
          <a:lstStyle/>
          <a:p>
            <a:pPr algn="l">
              <a:buFont typeface="Arial" panose="020B0604020202020204" pitchFamily="34" charset="0"/>
              <a:buChar char="•"/>
            </a:pPr>
            <a:r>
              <a:rPr lang="en-US" b="0" i="0" dirty="0">
                <a:solidFill>
                  <a:srgbClr val="353535"/>
                </a:solidFill>
                <a:effectLst/>
                <a:latin typeface="Arial" panose="020B0604020202020204" pitchFamily="34" charset="0"/>
              </a:rPr>
              <a:t>Hyperparameter Tuning is able to improve both R2 and RMSE scores</a:t>
            </a:r>
          </a:p>
          <a:p>
            <a:pPr algn="l">
              <a:buFont typeface="Arial" panose="020B0604020202020204" pitchFamily="34" charset="0"/>
              <a:buChar char="•"/>
            </a:pPr>
            <a:r>
              <a:rPr lang="en-US" b="0" i="0" dirty="0">
                <a:solidFill>
                  <a:srgbClr val="353535"/>
                </a:solidFill>
                <a:effectLst/>
                <a:latin typeface="Arial" panose="020B0604020202020204" pitchFamily="34" charset="0"/>
              </a:rPr>
              <a:t>The Artificial Bee Colony Hyperparameter Tuning Algorithm is able to improve both the R2 and RMSE scores more than </a:t>
            </a:r>
            <a:r>
              <a:rPr lang="en-US" b="0" i="0" dirty="0" err="1">
                <a:solidFill>
                  <a:srgbClr val="353535"/>
                </a:solidFill>
                <a:effectLst/>
                <a:latin typeface="Arial" panose="020B0604020202020204" pitchFamily="34" charset="0"/>
              </a:rPr>
              <a:t>GridSearchCV</a:t>
            </a:r>
            <a:endParaRPr lang="en-US" b="0" i="0" dirty="0">
              <a:solidFill>
                <a:srgbClr val="353535"/>
              </a:solidFill>
              <a:effectLst/>
              <a:latin typeface="Arial" panose="020B0604020202020204" pitchFamily="34" charset="0"/>
            </a:endParaRPr>
          </a:p>
          <a:p>
            <a:pPr algn="l">
              <a:buFont typeface="Arial" panose="020B0604020202020204" pitchFamily="34" charset="0"/>
              <a:buChar char="•"/>
            </a:pPr>
            <a:r>
              <a:rPr lang="en-US" b="0" i="0" dirty="0" err="1">
                <a:solidFill>
                  <a:srgbClr val="353535"/>
                </a:solidFill>
                <a:effectLst/>
                <a:latin typeface="Arial" panose="020B0604020202020204" pitchFamily="34" charset="0"/>
              </a:rPr>
              <a:t>GridSearchCV</a:t>
            </a:r>
            <a:r>
              <a:rPr lang="en-US" b="0" i="0" dirty="0">
                <a:solidFill>
                  <a:srgbClr val="353535"/>
                </a:solidFill>
                <a:effectLst/>
                <a:latin typeface="Arial" panose="020B0604020202020204" pitchFamily="34" charset="0"/>
              </a:rPr>
              <a:t> is computationally wasteful since it tests all combinations of values inside the parameter grid even if similar combinations score badly while ABC is less computationally wasteful since it focusses on hyperparameter combinations that are similar to combinations that it has already scored well.</a:t>
            </a:r>
          </a:p>
          <a:p>
            <a:pPr algn="l">
              <a:buFont typeface="Arial" panose="020B0604020202020204" pitchFamily="34" charset="0"/>
              <a:buChar char="•"/>
            </a:pPr>
            <a:r>
              <a:rPr lang="en-US" b="0" i="0" dirty="0">
                <a:solidFill>
                  <a:srgbClr val="353535"/>
                </a:solidFill>
                <a:effectLst/>
                <a:latin typeface="Arial" panose="020B0604020202020204" pitchFamily="34" charset="0"/>
              </a:rPr>
              <a:t>ABC is also not restricted to a discrete parameter grid, I only provide it an upper and lower bound of values for integers and floats. This means that it can find a set of parameters that are better than those inside a fixed grid.</a:t>
            </a:r>
          </a:p>
        </p:txBody>
      </p:sp>
    </p:spTree>
    <p:extLst>
      <p:ext uri="{BB962C8B-B14F-4D97-AF65-F5344CB8AC3E}">
        <p14:creationId xmlns:p14="http://schemas.microsoft.com/office/powerpoint/2010/main" val="19292055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5FBD0-02F9-9FC9-BD4D-DEF2857EAAE8}"/>
              </a:ext>
            </a:extLst>
          </p:cNvPr>
          <p:cNvSpPr>
            <a:spLocks noGrp="1"/>
          </p:cNvSpPr>
          <p:nvPr>
            <p:ph type="title"/>
          </p:nvPr>
        </p:nvSpPr>
        <p:spPr/>
        <p:txBody>
          <a:bodyPr/>
          <a:lstStyle/>
          <a:p>
            <a:r>
              <a:rPr lang="en-US" dirty="0"/>
              <a:t>Conclusions</a:t>
            </a:r>
            <a:endParaRPr lang="en-SG" dirty="0"/>
          </a:p>
        </p:txBody>
      </p:sp>
      <p:sp>
        <p:nvSpPr>
          <p:cNvPr id="11" name="TextBox 10">
            <a:extLst>
              <a:ext uri="{FF2B5EF4-FFF2-40B4-BE49-F238E27FC236}">
                <a16:creationId xmlns:a16="http://schemas.microsoft.com/office/drawing/2014/main" id="{A534C04A-6899-313A-8523-BB83075C5E95}"/>
              </a:ext>
            </a:extLst>
          </p:cNvPr>
          <p:cNvSpPr txBox="1"/>
          <p:nvPr/>
        </p:nvSpPr>
        <p:spPr>
          <a:xfrm>
            <a:off x="838200" y="1690688"/>
            <a:ext cx="8966528" cy="3139321"/>
          </a:xfrm>
          <a:prstGeom prst="rect">
            <a:avLst/>
          </a:prstGeom>
          <a:noFill/>
        </p:spPr>
        <p:txBody>
          <a:bodyPr wrap="square">
            <a:spAutoFit/>
          </a:bodyPr>
          <a:lstStyle/>
          <a:p>
            <a:pPr marL="285750" indent="-285750" algn="l">
              <a:buFont typeface="Arial" panose="020B0604020202020204" pitchFamily="34" charset="0"/>
              <a:buChar char="•"/>
            </a:pPr>
            <a:r>
              <a:rPr lang="en-US" b="0" i="0" dirty="0">
                <a:solidFill>
                  <a:srgbClr val="353535"/>
                </a:solidFill>
                <a:effectLst/>
                <a:latin typeface="Arial" panose="020B0604020202020204" pitchFamily="34" charset="0"/>
              </a:rPr>
              <a:t>Hyperparameter Tuning is able to improve both R2 and RMSE scores</a:t>
            </a:r>
          </a:p>
          <a:p>
            <a:pPr marL="285750" indent="-285750" algn="l">
              <a:buFont typeface="Arial" panose="020B0604020202020204" pitchFamily="34" charset="0"/>
              <a:buChar char="•"/>
            </a:pPr>
            <a:r>
              <a:rPr lang="en-US" b="0" i="0" dirty="0">
                <a:solidFill>
                  <a:srgbClr val="353535"/>
                </a:solidFill>
                <a:effectLst/>
                <a:latin typeface="Arial" panose="020B0604020202020204" pitchFamily="34" charset="0"/>
              </a:rPr>
              <a:t>The Artificial Bee Colony Hyperparameter Tuning Algorithm is able to improve both the R2 and RMSE scores more than </a:t>
            </a:r>
            <a:r>
              <a:rPr lang="en-US" b="0" i="0" dirty="0" err="1">
                <a:solidFill>
                  <a:srgbClr val="353535"/>
                </a:solidFill>
                <a:effectLst/>
                <a:latin typeface="Arial" panose="020B0604020202020204" pitchFamily="34" charset="0"/>
              </a:rPr>
              <a:t>GridSearchCV</a:t>
            </a:r>
            <a:endParaRPr lang="en-US" b="0" i="0" dirty="0">
              <a:solidFill>
                <a:srgbClr val="353535"/>
              </a:solidFill>
              <a:effectLst/>
              <a:latin typeface="Arial" panose="020B0604020202020204" pitchFamily="34" charset="0"/>
            </a:endParaRPr>
          </a:p>
          <a:p>
            <a:pPr marL="285750" indent="-285750" algn="l">
              <a:buFont typeface="Arial" panose="020B0604020202020204" pitchFamily="34" charset="0"/>
              <a:buChar char="•"/>
            </a:pPr>
            <a:r>
              <a:rPr lang="en-US" b="0" i="0" dirty="0" err="1">
                <a:solidFill>
                  <a:srgbClr val="353535"/>
                </a:solidFill>
                <a:effectLst/>
                <a:latin typeface="Arial" panose="020B0604020202020204" pitchFamily="34" charset="0"/>
              </a:rPr>
              <a:t>GridSearchCV</a:t>
            </a:r>
            <a:r>
              <a:rPr lang="en-US" b="0" i="0" dirty="0">
                <a:solidFill>
                  <a:srgbClr val="353535"/>
                </a:solidFill>
                <a:effectLst/>
                <a:latin typeface="Arial" panose="020B0604020202020204" pitchFamily="34" charset="0"/>
              </a:rPr>
              <a:t> is </a:t>
            </a:r>
            <a:r>
              <a:rPr lang="en-US" b="0" i="0" u="sng" dirty="0">
                <a:solidFill>
                  <a:srgbClr val="353535"/>
                </a:solidFill>
                <a:effectLst/>
                <a:latin typeface="Arial" panose="020B0604020202020204" pitchFamily="34" charset="0"/>
              </a:rPr>
              <a:t>computationally wasteful </a:t>
            </a:r>
            <a:r>
              <a:rPr lang="en-US" b="0" i="0" dirty="0">
                <a:solidFill>
                  <a:srgbClr val="353535"/>
                </a:solidFill>
                <a:effectLst/>
                <a:latin typeface="Arial" panose="020B0604020202020204" pitchFamily="34" charset="0"/>
              </a:rPr>
              <a:t>since it tests all combinations of values inside the parameter grid even if similar combinations score badly while ABC is less computationally wasteful since it focusses on hyperparameter combinations that are similar to combinations that it has already scored well.</a:t>
            </a:r>
          </a:p>
          <a:p>
            <a:pPr marL="285750" indent="-285750" algn="l">
              <a:buFont typeface="Arial" panose="020B0604020202020204" pitchFamily="34" charset="0"/>
              <a:buChar char="•"/>
            </a:pPr>
            <a:r>
              <a:rPr lang="en-US" b="0" i="0" dirty="0">
                <a:solidFill>
                  <a:srgbClr val="353535"/>
                </a:solidFill>
                <a:effectLst/>
                <a:latin typeface="Arial" panose="020B0604020202020204" pitchFamily="34" charset="0"/>
              </a:rPr>
              <a:t>ABC is also not restricted to a discrete parameter grid, I only provide it an upper and lower bound of values for integers and floats. This means that it can find a set of parameters that are better than those inside a fixed grid like </a:t>
            </a:r>
            <a:r>
              <a:rPr lang="en-US" dirty="0" err="1">
                <a:solidFill>
                  <a:srgbClr val="353535"/>
                </a:solidFill>
                <a:latin typeface="Arial" panose="020B0604020202020204" pitchFamily="34" charset="0"/>
              </a:rPr>
              <a:t>GridSearchCV</a:t>
            </a:r>
            <a:r>
              <a:rPr lang="en-US" dirty="0">
                <a:solidFill>
                  <a:srgbClr val="353535"/>
                </a:solidFill>
                <a:latin typeface="Arial" panose="020B0604020202020204" pitchFamily="34" charset="0"/>
              </a:rPr>
              <a:t> requires</a:t>
            </a:r>
            <a:r>
              <a:rPr lang="en-US" b="0" i="0" dirty="0">
                <a:solidFill>
                  <a:srgbClr val="353535"/>
                </a:solidFill>
                <a:effectLst/>
                <a:latin typeface="Arial" panose="020B0604020202020204" pitchFamily="34" charset="0"/>
              </a:rPr>
              <a:t>.</a:t>
            </a:r>
          </a:p>
        </p:txBody>
      </p:sp>
    </p:spTree>
    <p:extLst>
      <p:ext uri="{BB962C8B-B14F-4D97-AF65-F5344CB8AC3E}">
        <p14:creationId xmlns:p14="http://schemas.microsoft.com/office/powerpoint/2010/main" val="42260752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829</TotalTime>
  <Words>1265</Words>
  <Application>Microsoft Office PowerPoint</Application>
  <PresentationFormat>Widescreen</PresentationFormat>
  <Paragraphs>111</Paragraphs>
  <Slides>20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Times New Roman</vt:lpstr>
      <vt:lpstr>Office Theme</vt:lpstr>
      <vt:lpstr>AIML CA1: Part A Classification</vt:lpstr>
      <vt:lpstr>Data Exploration</vt:lpstr>
      <vt:lpstr>Data Exploration/Feature Engineering:  Yeo-Johnson Transformation</vt:lpstr>
      <vt:lpstr>Data Exploration/Feature Engineering</vt:lpstr>
      <vt:lpstr>Model Selection</vt:lpstr>
      <vt:lpstr>Model Selection: Resampling</vt:lpstr>
      <vt:lpstr>Model Selection</vt:lpstr>
      <vt:lpstr>Model Improvement: Hyperparameter Tuning</vt:lpstr>
      <vt:lpstr>Model Improvement: Hyperparameter Tuning</vt:lpstr>
      <vt:lpstr>Model Improvement</vt:lpstr>
      <vt:lpstr>AIML CA1: Part B Classification</vt:lpstr>
      <vt:lpstr>Data Exploration</vt:lpstr>
      <vt:lpstr>Data Exploration</vt:lpstr>
      <vt:lpstr>Feature Engineering</vt:lpstr>
      <vt:lpstr>Feature Engineering</vt:lpstr>
      <vt:lpstr>Model Selection</vt:lpstr>
      <vt:lpstr>Model Selection</vt:lpstr>
      <vt:lpstr>Model Improvement</vt:lpstr>
      <vt:lpstr>Model Evaluation</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AIML CA1: Part A Classification</dc:title>
  <dc:creator>GLENN WU</dc:creator>
  <cp:lastModifiedBy>GLENN WU</cp:lastModifiedBy>
  <cp:revision>3</cp:revision>
  <dcterms:created xsi:type="dcterms:W3CDTF">2023-06-09T01:49:29Z</dcterms:created>
  <dcterms:modified xsi:type="dcterms:W3CDTF">2023-06-09T15:38:32Z</dcterms:modified>
</cp:coreProperties>
</file>